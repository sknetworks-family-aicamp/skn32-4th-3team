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1" r:id="rId2"/>
    <p:sldId id="274" r:id="rId3"/>
    <p:sldId id="257" r:id="rId4"/>
    <p:sldId id="258" r:id="rId5"/>
    <p:sldId id="27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9" r:id="rId14"/>
    <p:sldId id="268" r:id="rId15"/>
    <p:sldId id="280" r:id="rId16"/>
    <p:sldId id="271" r:id="rId17"/>
    <p:sldId id="282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782E"/>
    <a:srgbClr val="EFEFEF"/>
    <a:srgbClr val="EBF0FA"/>
    <a:srgbClr val="3D5E33"/>
    <a:srgbClr val="F5F5F0"/>
    <a:srgbClr val="1C1C1C"/>
    <a:srgbClr val="111111"/>
    <a:srgbClr val="FDF8E3"/>
    <a:srgbClr val="EBF5EE"/>
    <a:srgbClr val="F1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46836-4B7A-46D6-BCE6-4CBEC8277AF6}" v="937" dt="2026-08-27T03:46:35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7_F27A73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9</c:v>
                </c:pt>
                <c:pt idx="2">
                  <c:v>93.3</c:v>
                </c:pt>
                <c:pt idx="3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2-4019-B7C0-5EE85586CF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D4890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</c:v>
                </c:pt>
                <c:pt idx="1">
                  <c:v>8</c:v>
                </c:pt>
                <c:pt idx="2">
                  <c:v>95.9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D2-4019-B7C0-5EE85586CF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6</c:v>
                </c:pt>
                <c:pt idx="2">
                  <c:v>95.8</c:v>
                </c:pt>
                <c:pt idx="3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D2-4019-B7C0-5EE85586CF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8A45-76D3-4901-94B4-9F58FAB8B96F}" type="datetimeFigureOut"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57E1B-D1A4-43ED-890D-8B857FC72DF5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DBB2-C613-F7F6-82A5-0A240D3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F45A0-75DE-6052-1606-4A09ED746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D99D1-44CB-A620-A5B5-6D076C2AF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타이틀 슬라이드. Ecobot은 환경부 가이드와 지역 조례 기반 AI 챗봇 서비스.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95BA7-D43C-995D-47C6-8688E6F0A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0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B297-461A-7DCA-2F6D-B16E19CE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BD077-A96C-D2C4-C08F-1B4922227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34348-F5A1-AAE0-5E1B-0E8D78A9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05191-835A-24DD-0238-44AD23665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13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41E92-CC6C-A98D-625B-606996E8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04123-CCB0-B8EC-4E80-719FB7580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8028E-71BE-3BBB-7B88-5800190F7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3DD0-1FC5-68EC-DE1A-0A5E88A93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39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JHu2WolmMifPXw6qKxVh9DWgXynHrDa/view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A343A-6FB4-ECBB-29CB-20AB4D00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FA9926-B985-F78A-0FF0-143668C93628}"/>
              </a:ext>
            </a:extLst>
          </p:cNvPr>
          <p:cNvSpPr txBox="1"/>
          <p:nvPr/>
        </p:nvSpPr>
        <p:spPr>
          <a:xfrm>
            <a:off x="0" y="914400"/>
            <a:ext cx="9144000" cy="640080"/>
          </a:xfrm>
          <a:prstGeom prst="rect">
            <a:avLst/>
          </a:prstGeom>
          <a:solidFill>
            <a:srgbClr val="EFEFE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4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FC71CD-8D39-A0E4-B1C9-26286F8ADE69}"/>
              </a:ext>
            </a:extLst>
          </p:cNvPr>
          <p:cNvSpPr txBox="1"/>
          <p:nvPr/>
        </p:nvSpPr>
        <p:spPr>
          <a:xfrm>
            <a:off x="0" y="1508760"/>
            <a:ext cx="91440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800" b="1" err="1">
                <a:solidFill>
                  <a:schemeClr val="accent6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Ecobot</a:t>
            </a:r>
            <a:endParaRPr lang="en-US" sz="4800">
              <a:solidFill>
                <a:schemeClr val="accent6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F95AED-C4F9-95B2-E690-12E4E18AF7F0}"/>
              </a:ext>
            </a:extLst>
          </p:cNvPr>
          <p:cNvSpPr txBox="1"/>
          <p:nvPr/>
        </p:nvSpPr>
        <p:spPr>
          <a:xfrm>
            <a:off x="0" y="2148840"/>
            <a:ext cx="91440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AI </a:t>
            </a:r>
            <a:r>
              <a:rPr lang="en-US" sz="180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기반</a:t>
            </a:r>
            <a:r>
              <a:rPr lang="en-US" sz="180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생활환경</a:t>
            </a:r>
            <a:r>
              <a:rPr lang="en-US" sz="180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실천</a:t>
            </a:r>
            <a:r>
              <a:rPr lang="en-US" sz="180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안내</a:t>
            </a:r>
            <a:r>
              <a:rPr lang="en-US" sz="180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서비스</a:t>
            </a:r>
            <a:endParaRPr lang="en-US" sz="1800">
              <a:solidFill>
                <a:srgbClr val="4B782E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6C0973-E378-AD35-0C95-5C1C17A1766D}"/>
              </a:ext>
            </a:extLst>
          </p:cNvPr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0E6A2C5-B6EE-A9BC-DF25-8944EDC31E12}"/>
              </a:ext>
            </a:extLst>
          </p:cNvPr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3Team - </a:t>
            </a:r>
            <a:r>
              <a:rPr lang="ko-KR" alt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임정택</a:t>
            </a:r>
            <a:r>
              <a:rPr 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 </a:t>
            </a:r>
            <a:r>
              <a:rPr lang="ko-KR" alt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박수진</a:t>
            </a:r>
            <a:r>
              <a:rPr 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 </a:t>
            </a:r>
            <a:r>
              <a:rPr lang="ko-KR" altLang="en-US" sz="1600" err="1">
                <a:solidFill>
                  <a:srgbClr val="1C1C1C"/>
                </a:solidFill>
                <a:latin typeface="Arial"/>
                <a:ea typeface="Calibri"/>
                <a:cs typeface="Arial"/>
              </a:rPr>
              <a:t>정세환</a:t>
            </a:r>
            <a:r>
              <a:rPr lang="en-US" sz="160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 </a:t>
            </a:r>
            <a:r>
              <a:rPr lang="ko-KR" altLang="en-US" sz="1600" err="1">
                <a:solidFill>
                  <a:srgbClr val="1C1C1C"/>
                </a:solidFill>
                <a:latin typeface="Arial"/>
                <a:ea typeface="Calibri"/>
                <a:cs typeface="Arial"/>
              </a:rPr>
              <a:t>하정원</a:t>
            </a:r>
            <a:endParaRPr lang="ko-KR" altLang="en-US" sz="1600">
              <a:solidFill>
                <a:srgbClr val="1C1C1C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69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2900"/>
            <a:ext cx="3429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70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1165860" y="109728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err="1">
                <a:solidFill>
                  <a:srgbClr val="2A2A25"/>
                </a:solidFill>
                <a:ea typeface="Calibri"/>
                <a:cs typeface="Calibri"/>
              </a:rPr>
              <a:t>시스템</a:t>
            </a:r>
            <a:r>
              <a:rPr lang="en-US" altLang="ko-KR" sz="1200" b="1">
                <a:solidFill>
                  <a:srgbClr val="2A2A25"/>
                </a:solidFill>
                <a:ea typeface="Calibri"/>
                <a:cs typeface="Calibri"/>
              </a:rPr>
              <a:t> </a:t>
            </a:r>
            <a:r>
              <a:rPr lang="en-US" altLang="ko-KR" sz="1200" b="1" err="1">
                <a:solidFill>
                  <a:srgbClr val="2A2A25"/>
                </a:solidFill>
                <a:ea typeface="Calibri"/>
                <a:cs typeface="Calibri"/>
              </a:rPr>
              <a:t>설계</a:t>
            </a:r>
            <a:r>
              <a:rPr lang="en-US" altLang="ko-KR" sz="1200" b="1">
                <a:solidFill>
                  <a:srgbClr val="2A2A25"/>
                </a:solidFill>
                <a:ea typeface="Calibri"/>
                <a:cs typeface="Calibri"/>
              </a:rPr>
              <a:t> 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165860" y="128930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ea typeface="Calibri"/>
                <a:cs typeface="Calibri"/>
              </a:rPr>
              <a:t>아키텍쳐, 기술 스택</a:t>
            </a:r>
            <a:endParaRPr lang="en-US" sz="900">
              <a:solidFill>
                <a:srgbClr val="6B6B65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8021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8021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1165860" y="168021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solidFill>
                  <a:srgbClr val="2A2A25"/>
                </a:solidFill>
                <a:ea typeface="Calibri"/>
                <a:cs typeface="Calibri"/>
              </a:rPr>
              <a:t>핵심 구조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165860" y="187223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ea typeface="Calibri"/>
                <a:cs typeface="Calibri"/>
              </a:rPr>
              <a:t>단지 시스템, 역할 &amp; 권한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26314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6314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1165860" y="226314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2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1165860" y="245516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AI </a:t>
            </a:r>
            <a:r>
              <a:rPr lang="en-US" sz="90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챗봇</a:t>
            </a:r>
            <a:r>
              <a:rPr 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90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커뮤니티</a:t>
            </a:r>
            <a:r>
              <a:rPr 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90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관리자</a:t>
            </a:r>
            <a:r>
              <a:rPr 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90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대시보드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284607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4607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50"/>
          </a:p>
        </p:txBody>
      </p:sp>
      <p:sp>
        <p:nvSpPr>
          <p:cNvPr id="17" name="Text 15"/>
          <p:cNvSpPr txBox="1"/>
          <p:nvPr/>
        </p:nvSpPr>
        <p:spPr>
          <a:xfrm>
            <a:off x="1165860" y="284607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2A2A25"/>
                </a:solidFill>
                <a:latin typeface="Calibri"/>
                <a:ea typeface="Calibri"/>
                <a:cs typeface="Calibri"/>
              </a:rPr>
              <a:t>RAG &amp; </a:t>
            </a:r>
            <a:r>
              <a:rPr lang="ko-KR" altLang="en-US" sz="1200" b="1">
                <a:solidFill>
                  <a:srgbClr val="2A2A25"/>
                </a:solidFill>
                <a:latin typeface="Calibri"/>
                <a:ea typeface="Calibri"/>
                <a:cs typeface="Calibri"/>
              </a:rPr>
              <a:t>신뢰성</a:t>
            </a:r>
            <a:endParaRPr lang="ko-KR" altLang="en-US" sz="1200" b="1">
              <a:solidFill>
                <a:srgbClr val="2A2A25"/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65860" y="303809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파이프라인, 법령 분류, 검색 실험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900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50"/>
          </a:p>
        </p:txBody>
      </p:sp>
      <p:sp>
        <p:nvSpPr>
          <p:cNvPr id="21" name="Text 19"/>
          <p:cNvSpPr txBox="1"/>
          <p:nvPr/>
        </p:nvSpPr>
        <p:spPr>
          <a:xfrm>
            <a:off x="1165860" y="34290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solidFill>
                  <a:srgbClr val="2A2A25"/>
                </a:solidFill>
                <a:ea typeface="Calibri"/>
                <a:cs typeface="Calibri"/>
              </a:rPr>
              <a:t>향후 계획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1165860" y="362102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6B6B65"/>
                </a:solidFill>
                <a:ea typeface="Calibri"/>
                <a:cs typeface="Calibri"/>
              </a:rPr>
              <a:t>개선 방향</a:t>
            </a:r>
          </a:p>
        </p:txBody>
      </p:sp>
      <p:sp>
        <p:nvSpPr>
          <p:cNvPr id="23" name="Shape 21"/>
          <p:cNvSpPr/>
          <p:nvPr/>
        </p:nvSpPr>
        <p:spPr>
          <a:xfrm>
            <a:off x="548640" y="401193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1193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50"/>
          </a:p>
        </p:txBody>
      </p:sp>
      <p:sp>
        <p:nvSpPr>
          <p:cNvPr id="25" name="Text 23"/>
          <p:cNvSpPr txBox="1"/>
          <p:nvPr/>
        </p:nvSpPr>
        <p:spPr>
          <a:xfrm>
            <a:off x="1165860" y="401193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solidFill>
                  <a:srgbClr val="2A2A25"/>
                </a:solidFill>
                <a:latin typeface="Calibri"/>
                <a:ea typeface="Calibri"/>
                <a:cs typeface="Calibri"/>
              </a:rPr>
              <a:t>시연 영상</a:t>
            </a:r>
          </a:p>
        </p:txBody>
      </p:sp>
    </p:spTree>
    <p:extLst>
      <p:ext uri="{BB962C8B-B14F-4D97-AF65-F5344CB8AC3E}">
        <p14:creationId xmlns:p14="http://schemas.microsoft.com/office/powerpoint/2010/main" val="281667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FCEF6-475A-89E6-60C7-C589DAD3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7677A3-3FE6-6B21-9472-0D816DF2F052}"/>
              </a:ext>
            </a:extLst>
          </p:cNvPr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EAF2E9-34CA-4164-519B-70C5ACDEEB1B}"/>
              </a:ext>
            </a:extLst>
          </p:cNvPr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9BE132-7BB0-E1BC-31C9-83DEC6EF5B5B}"/>
              </a:ext>
            </a:extLst>
          </p:cNvPr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분담</a:t>
            </a:r>
            <a:endParaRPr lang="en-US" sz="280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95FE49A-8FCF-BE15-1859-8089D7B61C30}"/>
              </a:ext>
            </a:extLst>
          </p:cNvPr>
          <p:cNvGrpSpPr/>
          <p:nvPr/>
        </p:nvGrpSpPr>
        <p:grpSpPr>
          <a:xfrm>
            <a:off x="6752104" y="1188720"/>
            <a:ext cx="1938528" cy="3200400"/>
            <a:chOff x="457200" y="1188720"/>
            <a:chExt cx="1938528" cy="32004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1E73EC7-31D1-DDD7-304F-38D05CD89A26}"/>
                </a:ext>
              </a:extLst>
            </p:cNvPr>
            <p:cNvSpPr/>
            <p:nvPr/>
          </p:nvSpPr>
          <p:spPr>
            <a:xfrm>
              <a:off x="45720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CADC8ADA-AD4C-7FC0-57E1-7FBA449F9875}"/>
                </a:ext>
              </a:extLst>
            </p:cNvPr>
            <p:cNvSpPr/>
            <p:nvPr/>
          </p:nvSpPr>
          <p:spPr>
            <a:xfrm>
              <a:off x="45720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2C5F2D"/>
            </a:solidFill>
            <a:ln/>
          </p:spPr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BF408A21-6D90-D16F-30FB-140E41BAD273}"/>
                </a:ext>
              </a:extLst>
            </p:cNvPr>
            <p:cNvSpPr/>
            <p:nvPr/>
          </p:nvSpPr>
          <p:spPr>
            <a:xfrm>
              <a:off x="457200" y="1691640"/>
              <a:ext cx="1938528" cy="274320"/>
            </a:xfrm>
            <a:prstGeom prst="rect">
              <a:avLst/>
            </a:prstGeom>
            <a:solidFill>
              <a:srgbClr val="2C5F2D"/>
            </a:solidFill>
            <a:ln/>
          </p:spPr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AA4878E-2E17-90B2-1F25-9D2A81993C5A}"/>
                </a:ext>
              </a:extLst>
            </p:cNvPr>
            <p:cNvSpPr/>
            <p:nvPr/>
          </p:nvSpPr>
          <p:spPr>
            <a:xfrm>
              <a:off x="122529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6343291-CA3A-FF6D-0CED-32476D07E136}"/>
                </a:ext>
              </a:extLst>
            </p:cNvPr>
            <p:cNvSpPr txBox="1"/>
            <p:nvPr/>
          </p:nvSpPr>
          <p:spPr>
            <a:xfrm>
              <a:off x="122529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2526863-0706-538A-21B2-F6F16BCAC692}"/>
                </a:ext>
              </a:extLst>
            </p:cNvPr>
            <p:cNvSpPr txBox="1"/>
            <p:nvPr/>
          </p:nvSpPr>
          <p:spPr>
            <a:xfrm>
              <a:off x="45720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하정원</a:t>
              </a:r>
              <a:endParaRPr lang="en-US" sz="130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7DA2DE71-7020-D210-97BB-794FDAC1667C}"/>
                </a:ext>
              </a:extLst>
            </p:cNvPr>
            <p:cNvSpPr/>
            <p:nvPr/>
          </p:nvSpPr>
          <p:spPr>
            <a:xfrm>
              <a:off x="83210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2C5F2D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600A2FC-3584-72DF-5836-12289FA2F354}"/>
                </a:ext>
              </a:extLst>
            </p:cNvPr>
            <p:cNvSpPr txBox="1"/>
            <p:nvPr/>
          </p:nvSpPr>
          <p:spPr>
            <a:xfrm>
              <a:off x="83210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 / AI</a:t>
              </a:r>
              <a:endParaRPr lang="en-US" sz="80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700917D-5A1A-FF99-72B6-538378997D4F}"/>
                </a:ext>
              </a:extLst>
            </p:cNvPr>
            <p:cNvSpPr/>
            <p:nvPr/>
          </p:nvSpPr>
          <p:spPr>
            <a:xfrm>
              <a:off x="566928" y="2423160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3D84ECD-5D44-B428-658A-4CE413A2ED69}"/>
                </a:ext>
              </a:extLst>
            </p:cNvPr>
            <p:cNvSpPr txBox="1"/>
            <p:nvPr/>
          </p:nvSpPr>
          <p:spPr>
            <a:xfrm>
              <a:off x="694944" y="2377440"/>
              <a:ext cx="1700658" cy="404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백엔드 아키텍처 설계</a:t>
              </a:r>
              <a:endParaRPr lang="en-US" sz="85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083420CE-72A7-306E-A4F2-F2721C666BCF}"/>
                </a:ext>
              </a:extLst>
            </p:cNvPr>
            <p:cNvSpPr/>
            <p:nvPr/>
          </p:nvSpPr>
          <p:spPr>
            <a:xfrm>
              <a:off x="566928" y="2807208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6EC52174-55F1-7123-D232-20E627ED1AF4}"/>
                </a:ext>
              </a:extLst>
            </p:cNvPr>
            <p:cNvSpPr txBox="1"/>
            <p:nvPr/>
          </p:nvSpPr>
          <p:spPr>
            <a:xfrm>
              <a:off x="69494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4999"/>
                </a:lnSpc>
              </a:pPr>
              <a:r>
                <a:rPr lang="en-US" sz="850">
                  <a:solidFill>
                    <a:srgbClr val="333333"/>
                  </a:solidFill>
                  <a:latin typeface="Arial"/>
                  <a:cs typeface="Arial"/>
                </a:rPr>
                <a:t>3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단계</a:t>
              </a:r>
              <a:r>
                <a:rPr lang="en-US" sz="85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권한 인증 체계 구현</a:t>
              </a:r>
              <a:endParaRPr lang="en-US" sz="1000">
                <a:solidFill>
                  <a:srgbClr val="333333"/>
                </a:solidFill>
                <a:latin typeface="Arial"/>
                <a:ea typeface="맑은 고딕"/>
                <a:cs typeface="Arial"/>
              </a:endParaRPr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C6FDA2D4-59B6-B379-D53D-4BF6EC402245}"/>
                </a:ext>
              </a:extLst>
            </p:cNvPr>
            <p:cNvSpPr/>
            <p:nvPr/>
          </p:nvSpPr>
          <p:spPr>
            <a:xfrm>
              <a:off x="566928" y="3191256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CCD98D8-7ED4-6671-D170-3851E04BB8AD}"/>
                </a:ext>
              </a:extLst>
            </p:cNvPr>
            <p:cNvSpPr txBox="1"/>
            <p:nvPr/>
          </p:nvSpPr>
          <p:spPr>
            <a:xfrm>
              <a:off x="694944" y="3145536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문서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업로드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 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파이프라인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 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고도화</a:t>
              </a:r>
              <a:endParaRPr lang="en-US" sz="850" err="1">
                <a:latin typeface="Arial"/>
                <a:cs typeface="Arial"/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681877EA-4916-8487-E860-11DF31DAA82D}"/>
                </a:ext>
              </a:extLst>
            </p:cNvPr>
            <p:cNvSpPr/>
            <p:nvPr/>
          </p:nvSpPr>
          <p:spPr>
            <a:xfrm>
              <a:off x="566928" y="3575304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8B48720-80D5-A89D-F554-4D8C4A546243}"/>
                </a:ext>
              </a:extLst>
            </p:cNvPr>
            <p:cNvSpPr txBox="1"/>
            <p:nvPr/>
          </p:nvSpPr>
          <p:spPr>
            <a:xfrm>
              <a:off x="694944" y="3529584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>
                  <a:solidFill>
                    <a:srgbClr val="333333"/>
                  </a:solidFill>
                  <a:latin typeface="Arial"/>
                  <a:cs typeface="Arial"/>
                </a:rPr>
                <a:t>RAG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신뢰성</a:t>
              </a:r>
              <a:r>
                <a:rPr lang="en-US" sz="85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확보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EFD182E-625C-5D12-7D12-A21B64C7EEAE}"/>
              </a:ext>
            </a:extLst>
          </p:cNvPr>
          <p:cNvGrpSpPr/>
          <p:nvPr/>
        </p:nvGrpSpPr>
        <p:grpSpPr>
          <a:xfrm>
            <a:off x="4661423" y="1188720"/>
            <a:ext cx="1938528" cy="3200400"/>
            <a:chOff x="2560320" y="1188720"/>
            <a:chExt cx="1938528" cy="3200400"/>
          </a:xfrm>
        </p:grpSpPr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46D99E52-8166-6635-1011-5C3A36FF0E56}"/>
                </a:ext>
              </a:extLst>
            </p:cNvPr>
            <p:cNvSpPr/>
            <p:nvPr/>
          </p:nvSpPr>
          <p:spPr>
            <a:xfrm>
              <a:off x="256032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3AAC889F-E698-901C-45A2-B6772D8A1F65}"/>
                </a:ext>
              </a:extLst>
            </p:cNvPr>
            <p:cNvSpPr/>
            <p:nvPr/>
          </p:nvSpPr>
          <p:spPr>
            <a:xfrm>
              <a:off x="256032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D4890B"/>
            </a:solidFill>
            <a:ln/>
          </p:spPr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78557F8C-25F5-531D-82BF-44E70341744C}"/>
                </a:ext>
              </a:extLst>
            </p:cNvPr>
            <p:cNvSpPr/>
            <p:nvPr/>
          </p:nvSpPr>
          <p:spPr>
            <a:xfrm>
              <a:off x="2560320" y="1691640"/>
              <a:ext cx="1938528" cy="274320"/>
            </a:xfrm>
            <a:prstGeom prst="rect">
              <a:avLst/>
            </a:prstGeom>
            <a:solidFill>
              <a:srgbClr val="D4890B"/>
            </a:solidFill>
            <a:ln/>
          </p:spPr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57737BC7-6D0D-7F5A-40E2-8D462BFEF9DE}"/>
                </a:ext>
              </a:extLst>
            </p:cNvPr>
            <p:cNvSpPr/>
            <p:nvPr/>
          </p:nvSpPr>
          <p:spPr>
            <a:xfrm>
              <a:off x="332841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27623EE1-0429-2D0F-20C8-1D4DEC2C673D}"/>
                </a:ext>
              </a:extLst>
            </p:cNvPr>
            <p:cNvSpPr txBox="1"/>
            <p:nvPr/>
          </p:nvSpPr>
          <p:spPr>
            <a:xfrm>
              <a:off x="332841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AC9AB97C-2023-0276-6D56-7C863F957F6C}"/>
                </a:ext>
              </a:extLst>
            </p:cNvPr>
            <p:cNvSpPr txBox="1"/>
            <p:nvPr/>
          </p:nvSpPr>
          <p:spPr>
            <a:xfrm>
              <a:off x="256032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정세환</a:t>
              </a:r>
              <a:endParaRPr lang="en-US" sz="130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2D2DC842-091B-A944-768C-31C4362A716F}"/>
                </a:ext>
              </a:extLst>
            </p:cNvPr>
            <p:cNvSpPr/>
            <p:nvPr/>
          </p:nvSpPr>
          <p:spPr>
            <a:xfrm>
              <a:off x="293522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D4890B"/>
              </a:solidFill>
              <a:prstDash val="solid"/>
            </a:ln>
          </p:spPr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FC06DA17-B7BD-655A-F72A-5920291C9FAA}"/>
                </a:ext>
              </a:extLst>
            </p:cNvPr>
            <p:cNvSpPr txBox="1"/>
            <p:nvPr/>
          </p:nvSpPr>
          <p:spPr>
            <a:xfrm>
              <a:off x="293522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D489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/ Search</a:t>
              </a:r>
              <a:endParaRPr lang="en-US" sz="80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2269645A-BC0A-5F5F-671E-0BC211340BA9}"/>
                </a:ext>
              </a:extLst>
            </p:cNvPr>
            <p:cNvSpPr/>
            <p:nvPr/>
          </p:nvSpPr>
          <p:spPr>
            <a:xfrm>
              <a:off x="2670048" y="2423160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5B398E7F-349B-5BEF-F67A-2DC7DCE3CC6D}"/>
                </a:ext>
              </a:extLst>
            </p:cNvPr>
            <p:cNvSpPr txBox="1"/>
            <p:nvPr/>
          </p:nvSpPr>
          <p:spPr>
            <a:xfrm>
              <a:off x="2798064" y="2377440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데이터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수집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및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정제</a:t>
              </a:r>
              <a:endParaRPr lang="ko-KR" altLang="en-US" sz="85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3C2DBAC4-9FEF-20BF-D527-993CE189DD34}"/>
                </a:ext>
              </a:extLst>
            </p:cNvPr>
            <p:cNvSpPr/>
            <p:nvPr/>
          </p:nvSpPr>
          <p:spPr>
            <a:xfrm>
              <a:off x="2670048" y="2807208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6C985B8C-54A4-F09E-0A81-168D7614B24B}"/>
                </a:ext>
              </a:extLst>
            </p:cNvPr>
            <p:cNvSpPr txBox="1"/>
            <p:nvPr/>
          </p:nvSpPr>
          <p:spPr>
            <a:xfrm>
              <a:off x="279806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민원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연결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정보</a:t>
              </a: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구축</a:t>
              </a:r>
              <a:endParaRPr lang="en-US" sz="850" err="1">
                <a:latin typeface="Arial"/>
                <a:cs typeface="Arial"/>
              </a:endParaRPr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CF2B4816-AF1A-5714-DFDC-BE978B72C741}"/>
                </a:ext>
              </a:extLst>
            </p:cNvPr>
            <p:cNvSpPr/>
            <p:nvPr/>
          </p:nvSpPr>
          <p:spPr>
            <a:xfrm>
              <a:off x="2670048" y="3191256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5B8D7A2A-0B7E-529A-D7EC-C273364CC5E6}"/>
                </a:ext>
              </a:extLst>
            </p:cNvPr>
            <p:cNvSpPr txBox="1"/>
            <p:nvPr/>
          </p:nvSpPr>
          <p:spPr>
            <a:xfrm>
              <a:off x="2798064" y="3153803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BM25 및 Reranker 성능 테스트</a:t>
              </a:r>
              <a:endParaRPr lang="en-US" sz="850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DE00BC8-47F4-5DA3-EB2F-9F8EF7FDB1D3}"/>
              </a:ext>
            </a:extLst>
          </p:cNvPr>
          <p:cNvGrpSpPr/>
          <p:nvPr/>
        </p:nvGrpSpPr>
        <p:grpSpPr>
          <a:xfrm>
            <a:off x="2553932" y="1205529"/>
            <a:ext cx="1938528" cy="3200400"/>
            <a:chOff x="4663440" y="1188720"/>
            <a:chExt cx="1938528" cy="3200400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7B9C9CBA-413D-63B3-E416-7876E4EDF9E1}"/>
                </a:ext>
              </a:extLst>
            </p:cNvPr>
            <p:cNvSpPr/>
            <p:nvPr/>
          </p:nvSpPr>
          <p:spPr>
            <a:xfrm>
              <a:off x="466344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50BED4B0-1315-DE9B-16CA-54CA6C8936C0}"/>
                </a:ext>
              </a:extLst>
            </p:cNvPr>
            <p:cNvSpPr/>
            <p:nvPr/>
          </p:nvSpPr>
          <p:spPr>
            <a:xfrm>
              <a:off x="466344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2E7D9A"/>
            </a:solidFill>
            <a:ln/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0BBA47EA-AE55-30BE-EC72-13CB5CE31DCB}"/>
                </a:ext>
              </a:extLst>
            </p:cNvPr>
            <p:cNvSpPr/>
            <p:nvPr/>
          </p:nvSpPr>
          <p:spPr>
            <a:xfrm>
              <a:off x="4663440" y="1691640"/>
              <a:ext cx="1938528" cy="274320"/>
            </a:xfrm>
            <a:prstGeom prst="rect">
              <a:avLst/>
            </a:prstGeom>
            <a:solidFill>
              <a:srgbClr val="2E7D9A"/>
            </a:solidFill>
            <a:ln/>
          </p:spPr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67C29A3A-F9EF-4D38-405E-255CC52E55CB}"/>
                </a:ext>
              </a:extLst>
            </p:cNvPr>
            <p:cNvSpPr/>
            <p:nvPr/>
          </p:nvSpPr>
          <p:spPr>
            <a:xfrm>
              <a:off x="543153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EC022FCB-5E48-7D32-DDB4-C82053A1AF3E}"/>
                </a:ext>
              </a:extLst>
            </p:cNvPr>
            <p:cNvSpPr txBox="1"/>
            <p:nvPr/>
          </p:nvSpPr>
          <p:spPr>
            <a:xfrm>
              <a:off x="543153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8B075199-4240-0993-7D8C-EF4852F241FB}"/>
                </a:ext>
              </a:extLst>
            </p:cNvPr>
            <p:cNvSpPr txBox="1"/>
            <p:nvPr/>
          </p:nvSpPr>
          <p:spPr>
            <a:xfrm>
              <a:off x="466344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박수진</a:t>
              </a:r>
              <a:endParaRPr lang="en-US" sz="130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AD76B893-9157-6917-E284-9CCFEA2DE53C}"/>
                </a:ext>
              </a:extLst>
            </p:cNvPr>
            <p:cNvSpPr/>
            <p:nvPr/>
          </p:nvSpPr>
          <p:spPr>
            <a:xfrm>
              <a:off x="503834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2E7D9A"/>
              </a:solidFill>
              <a:prstDash val="solid"/>
            </a:ln>
          </p:spPr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F78BDBCC-C107-B826-11A3-2B18BA0DA882}"/>
                </a:ext>
              </a:extLst>
            </p:cNvPr>
            <p:cNvSpPr txBox="1"/>
            <p:nvPr/>
          </p:nvSpPr>
          <p:spPr>
            <a:xfrm>
              <a:off x="503834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2E7D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Frontend / Dashboard</a:t>
              </a:r>
              <a:endParaRPr lang="en-US" sz="800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DE549C5B-6499-1A24-DF0B-AF7EADC27390}"/>
                </a:ext>
              </a:extLst>
            </p:cNvPr>
            <p:cNvSpPr/>
            <p:nvPr/>
          </p:nvSpPr>
          <p:spPr>
            <a:xfrm>
              <a:off x="4773168" y="2423160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A981803B-0754-ECBB-4360-1505D1A19D21}"/>
                </a:ext>
              </a:extLst>
            </p:cNvPr>
            <p:cNvSpPr txBox="1"/>
            <p:nvPr/>
          </p:nvSpPr>
          <p:spPr>
            <a:xfrm>
              <a:off x="4901184" y="2377440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커뮤니티 게시판 구현 및 고도화</a:t>
              </a:r>
              <a:endParaRPr lang="en-US" sz="850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2649AD8D-0344-6EDD-DB85-06A91E9C14BA}"/>
                </a:ext>
              </a:extLst>
            </p:cNvPr>
            <p:cNvSpPr/>
            <p:nvPr/>
          </p:nvSpPr>
          <p:spPr>
            <a:xfrm>
              <a:off x="4773168" y="2807208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C98118B7-7B38-F7C0-7BE1-362D2FF581F5}"/>
                </a:ext>
              </a:extLst>
            </p:cNvPr>
            <p:cNvSpPr txBox="1"/>
            <p:nvPr/>
          </p:nvSpPr>
          <p:spPr>
            <a:xfrm>
              <a:off x="490118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4999"/>
                </a:lnSpc>
              </a:pP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챗봇</a:t>
              </a:r>
              <a:r>
                <a:rPr lang="en-US" altLang="ko-KR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 </a:t>
              </a: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기능</a:t>
              </a:r>
              <a:r>
                <a:rPr lang="en-US" altLang="ko-KR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고도화</a:t>
              </a:r>
              <a:endParaRPr lang="ko-KR" altLang="en-US">
                <a:ea typeface="맑은 고딕"/>
              </a:endParaRPr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4D328E36-5EE3-5290-36A2-6FB8B7F3F2FF}"/>
                </a:ext>
              </a:extLst>
            </p:cNvPr>
            <p:cNvSpPr/>
            <p:nvPr/>
          </p:nvSpPr>
          <p:spPr>
            <a:xfrm>
              <a:off x="4773168" y="3191256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2B15F514-4A08-01E2-5D84-367A36310198}"/>
                </a:ext>
              </a:extLst>
            </p:cNvPr>
            <p:cNvSpPr txBox="1"/>
            <p:nvPr/>
          </p:nvSpPr>
          <p:spPr>
            <a:xfrm>
              <a:off x="4901184" y="3145536"/>
              <a:ext cx="16928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90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관리자 대시보트 고도화</a:t>
              </a:r>
              <a:endParaRPr lang="en-US" altLang="ko-KR" sz="9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endParaRPr>
            </a:p>
            <a:p>
              <a:pPr>
                <a:lnSpc>
                  <a:spcPct val="114999"/>
                </a:lnSpc>
              </a:pPr>
              <a:endParaRPr lang="en-US" sz="85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2DDA2CA8-8620-DF3D-F7F4-D6F8B93BEA87}"/>
                </a:ext>
              </a:extLst>
            </p:cNvPr>
            <p:cNvSpPr/>
            <p:nvPr/>
          </p:nvSpPr>
          <p:spPr>
            <a:xfrm>
              <a:off x="4773168" y="3575304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5" name="Text 53">
              <a:extLst>
                <a:ext uri="{FF2B5EF4-FFF2-40B4-BE49-F238E27FC236}">
                  <a16:creationId xmlns:a16="http://schemas.microsoft.com/office/drawing/2014/main" id="{F18098DB-B82E-D99C-2F9E-99CB501ED539}"/>
                </a:ext>
              </a:extLst>
            </p:cNvPr>
            <p:cNvSpPr txBox="1"/>
            <p:nvPr/>
          </p:nvSpPr>
          <p:spPr>
            <a:xfrm>
              <a:off x="4901184" y="3529584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프론트엔드 UI </a:t>
              </a:r>
              <a:endParaRPr lang="en-US" sz="85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9A5A6D6-82C2-8ACF-64AB-EEFD396CCC1F}"/>
              </a:ext>
            </a:extLst>
          </p:cNvPr>
          <p:cNvGrpSpPr/>
          <p:nvPr/>
        </p:nvGrpSpPr>
        <p:grpSpPr>
          <a:xfrm>
            <a:off x="454847" y="1205528"/>
            <a:ext cx="1938528" cy="3200400"/>
            <a:chOff x="6766560" y="1188720"/>
            <a:chExt cx="1938528" cy="3200400"/>
          </a:xfrm>
        </p:grpSpPr>
        <p:sp>
          <p:nvSpPr>
            <p:cNvPr id="56" name="Shape 54">
              <a:extLst>
                <a:ext uri="{FF2B5EF4-FFF2-40B4-BE49-F238E27FC236}">
                  <a16:creationId xmlns:a16="http://schemas.microsoft.com/office/drawing/2014/main" id="{9190B0AB-B7AC-413C-A768-3D6125507D37}"/>
                </a:ext>
              </a:extLst>
            </p:cNvPr>
            <p:cNvSpPr/>
            <p:nvPr/>
          </p:nvSpPr>
          <p:spPr>
            <a:xfrm>
              <a:off x="676656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290D1C11-8610-48F5-5B2E-7289CEEFEFE8}"/>
                </a:ext>
              </a:extLst>
            </p:cNvPr>
            <p:cNvSpPr/>
            <p:nvPr/>
          </p:nvSpPr>
          <p:spPr>
            <a:xfrm>
              <a:off x="676656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6D4C8E"/>
            </a:solidFill>
            <a:ln/>
          </p:spPr>
        </p:sp>
        <p:sp>
          <p:nvSpPr>
            <p:cNvPr id="58" name="Shape 56">
              <a:extLst>
                <a:ext uri="{FF2B5EF4-FFF2-40B4-BE49-F238E27FC236}">
                  <a16:creationId xmlns:a16="http://schemas.microsoft.com/office/drawing/2014/main" id="{67347064-AE60-F74E-2B9B-AE1D06DF02FA}"/>
                </a:ext>
              </a:extLst>
            </p:cNvPr>
            <p:cNvSpPr/>
            <p:nvPr/>
          </p:nvSpPr>
          <p:spPr>
            <a:xfrm>
              <a:off x="6766560" y="1691640"/>
              <a:ext cx="1938528" cy="274320"/>
            </a:xfrm>
            <a:prstGeom prst="rect">
              <a:avLst/>
            </a:prstGeom>
            <a:solidFill>
              <a:srgbClr val="6D4C8E"/>
            </a:solidFill>
            <a:ln/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C86ADA7E-F4E5-782D-7CC3-45182600C129}"/>
                </a:ext>
              </a:extLst>
            </p:cNvPr>
            <p:cNvSpPr/>
            <p:nvPr/>
          </p:nvSpPr>
          <p:spPr>
            <a:xfrm>
              <a:off x="753465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7CA9F4FB-5758-8CE0-7DB3-E933C7270628}"/>
                </a:ext>
              </a:extLst>
            </p:cNvPr>
            <p:cNvSpPr txBox="1"/>
            <p:nvPr/>
          </p:nvSpPr>
          <p:spPr>
            <a:xfrm>
              <a:off x="753465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/>
            </a:p>
          </p:txBody>
        </p:sp>
        <p:sp>
          <p:nvSpPr>
            <p:cNvPr id="61" name="Text 59">
              <a:extLst>
                <a:ext uri="{FF2B5EF4-FFF2-40B4-BE49-F238E27FC236}">
                  <a16:creationId xmlns:a16="http://schemas.microsoft.com/office/drawing/2014/main" id="{E9C867FF-2E10-7202-BD68-95A161FD3459}"/>
                </a:ext>
              </a:extLst>
            </p:cNvPr>
            <p:cNvSpPr txBox="1"/>
            <p:nvPr/>
          </p:nvSpPr>
          <p:spPr>
            <a:xfrm>
              <a:off x="676656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임정택</a:t>
              </a:r>
              <a:endParaRPr lang="en-US" sz="1300"/>
            </a:p>
          </p:txBody>
        </p:sp>
        <p:sp>
          <p:nvSpPr>
            <p:cNvPr id="62" name="Shape 60">
              <a:extLst>
                <a:ext uri="{FF2B5EF4-FFF2-40B4-BE49-F238E27FC236}">
                  <a16:creationId xmlns:a16="http://schemas.microsoft.com/office/drawing/2014/main" id="{C1B53A93-7B23-5724-9A30-0D1CF9FD8F27}"/>
                </a:ext>
              </a:extLst>
            </p:cNvPr>
            <p:cNvSpPr/>
            <p:nvPr/>
          </p:nvSpPr>
          <p:spPr>
            <a:xfrm>
              <a:off x="714146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6D4C8E"/>
              </a:solidFill>
              <a:prstDash val="solid"/>
            </a:ln>
          </p:spPr>
        </p:sp>
        <p:sp>
          <p:nvSpPr>
            <p:cNvPr id="63" name="Text 61">
              <a:extLst>
                <a:ext uri="{FF2B5EF4-FFF2-40B4-BE49-F238E27FC236}">
                  <a16:creationId xmlns:a16="http://schemas.microsoft.com/office/drawing/2014/main" id="{BBF06D26-CCEB-8AA6-9AA1-F7F763CA94B7}"/>
                </a:ext>
              </a:extLst>
            </p:cNvPr>
            <p:cNvSpPr txBox="1"/>
            <p:nvPr/>
          </p:nvSpPr>
          <p:spPr>
            <a:xfrm>
              <a:off x="714146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6D4C8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Infra / Data</a:t>
              </a:r>
              <a:endParaRPr lang="en-US" sz="800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D6EF3D86-F37C-4D60-3C58-7A8A92E144EE}"/>
                </a:ext>
              </a:extLst>
            </p:cNvPr>
            <p:cNvSpPr/>
            <p:nvPr/>
          </p:nvSpPr>
          <p:spPr>
            <a:xfrm>
              <a:off x="6876288" y="2423160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EB73EA95-CEEC-DA78-B02B-BB809BA8F0E4}"/>
                </a:ext>
              </a:extLst>
            </p:cNvPr>
            <p:cNvSpPr txBox="1"/>
            <p:nvPr/>
          </p:nvSpPr>
          <p:spPr>
            <a:xfrm>
              <a:off x="7004304" y="2377440"/>
              <a:ext cx="1692829" cy="389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Django </a:t>
              </a:r>
              <a:r>
                <a:rPr lang="en-US" sz="85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마이그레이션</a:t>
              </a:r>
              <a:endParaRPr lang="en-US" sz="850" err="1">
                <a:latin typeface="Arial"/>
                <a:cs typeface="Arial"/>
              </a:endParaRPr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5F4E2101-F94E-B685-5A47-40CBC2224046}"/>
                </a:ext>
              </a:extLst>
            </p:cNvPr>
            <p:cNvSpPr/>
            <p:nvPr/>
          </p:nvSpPr>
          <p:spPr>
            <a:xfrm>
              <a:off x="6876288" y="2807208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AF2EB221-6F8A-F147-AC36-D0BAB811BD6C}"/>
                </a:ext>
              </a:extLst>
            </p:cNvPr>
            <p:cNvSpPr txBox="1"/>
            <p:nvPr/>
          </p:nvSpPr>
          <p:spPr>
            <a:xfrm>
              <a:off x="700430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법령 · 지역 데이터 추가 수집</a:t>
              </a:r>
              <a:endParaRPr lang="en-US" sz="850"/>
            </a:p>
          </p:txBody>
        </p:sp>
        <p:sp>
          <p:nvSpPr>
            <p:cNvPr id="68" name="Shape 66">
              <a:extLst>
                <a:ext uri="{FF2B5EF4-FFF2-40B4-BE49-F238E27FC236}">
                  <a16:creationId xmlns:a16="http://schemas.microsoft.com/office/drawing/2014/main" id="{13C58774-0AD7-DAE1-C6ED-DC9416E3F638}"/>
                </a:ext>
              </a:extLst>
            </p:cNvPr>
            <p:cNvSpPr/>
            <p:nvPr/>
          </p:nvSpPr>
          <p:spPr>
            <a:xfrm>
              <a:off x="6876288" y="3191256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71" name="Text 69">
              <a:extLst>
                <a:ext uri="{FF2B5EF4-FFF2-40B4-BE49-F238E27FC236}">
                  <a16:creationId xmlns:a16="http://schemas.microsoft.com/office/drawing/2014/main" id="{53B07E39-FB2A-77CE-0A5B-B44B9923D465}"/>
                </a:ext>
              </a:extLst>
            </p:cNvPr>
            <p:cNvSpPr txBox="1"/>
            <p:nvPr/>
          </p:nvSpPr>
          <p:spPr>
            <a:xfrm>
              <a:off x="7004304" y="3153803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서버 배포 (Caddy + gunicorn)</a:t>
              </a:r>
              <a:endParaRPr lang="en-US" sz="850"/>
            </a:p>
          </p:txBody>
        </p:sp>
      </p:grpSp>
    </p:spTree>
    <p:extLst>
      <p:ext uri="{BB962C8B-B14F-4D97-AF65-F5344CB8AC3E}">
        <p14:creationId xmlns:p14="http://schemas.microsoft.com/office/powerpoint/2010/main" val="68022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371600"/>
            <a:ext cx="502920" cy="502920"/>
          </a:xfrm>
          <a:prstGeom prst="ellipse">
            <a:avLst/>
          </a:prstGeom>
          <a:solidFill>
            <a:srgbClr val="D0EDD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59436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(Browser)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59436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</a:t>
            </a:r>
            <a:endParaRPr lang="en-US" sz="1000"/>
          </a:p>
        </p:txBody>
      </p:sp>
      <p:sp>
        <p:nvSpPr>
          <p:cNvPr id="11" name="Text 9"/>
          <p:cNvSpPr txBox="1"/>
          <p:nvPr/>
        </p:nvSpPr>
        <p:spPr>
          <a:xfrm>
            <a:off x="59436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chat.js · dashboard.js</a:t>
            </a:r>
            <a:endParaRPr lang="en-US" sz="1000"/>
          </a:p>
        </p:txBody>
      </p:sp>
      <p:sp>
        <p:nvSpPr>
          <p:cNvPr id="12" name="Text 10"/>
          <p:cNvSpPr txBox="1"/>
          <p:nvPr/>
        </p:nvSpPr>
        <p:spPr>
          <a:xfrm>
            <a:off x="59436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 + CSRF Token</a:t>
            </a:r>
            <a:endParaRPr lang="en-US" sz="1000"/>
          </a:p>
        </p:txBody>
      </p:sp>
      <p:sp>
        <p:nvSpPr>
          <p:cNvPr id="13" name="Text 11"/>
          <p:cNvSpPr txBox="1"/>
          <p:nvPr/>
        </p:nvSpPr>
        <p:spPr>
          <a:xfrm>
            <a:off x="3063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371600"/>
            <a:ext cx="502920" cy="502920"/>
          </a:xfrm>
          <a:prstGeom prst="ellipse">
            <a:avLst/>
          </a:prstGeom>
          <a:solidFill>
            <a:srgbClr val="FFECB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347472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Backend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347472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(CBV) · Models (ORM)</a:t>
            </a:r>
            <a:endParaRPr lang="en-US" sz="1000"/>
          </a:p>
        </p:txBody>
      </p:sp>
      <p:sp>
        <p:nvSpPr>
          <p:cNvPr id="19" name="Text 17"/>
          <p:cNvSpPr txBox="1"/>
          <p:nvPr/>
        </p:nvSpPr>
        <p:spPr>
          <a:xfrm>
            <a:off x="347472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· chat · boards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347472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· dashboard · rag</a:t>
            </a:r>
            <a:endParaRPr lang="en-US" sz="1000"/>
          </a:p>
        </p:txBody>
      </p:sp>
      <p:sp>
        <p:nvSpPr>
          <p:cNvPr id="21" name="Text 19"/>
          <p:cNvSpPr txBox="1"/>
          <p:nvPr/>
        </p:nvSpPr>
        <p:spPr>
          <a:xfrm>
            <a:off x="59436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371600"/>
            <a:ext cx="502920" cy="502920"/>
          </a:xfrm>
          <a:prstGeom prst="ellipse">
            <a:avLst/>
          </a:prstGeom>
          <a:solidFill>
            <a:srgbClr val="C5DA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/>
          </a:p>
        </p:txBody>
      </p:sp>
      <p:sp>
        <p:nvSpPr>
          <p:cNvPr id="25" name="Text 23"/>
          <p:cNvSpPr txBox="1"/>
          <p:nvPr/>
        </p:nvSpPr>
        <p:spPr>
          <a:xfrm>
            <a:off x="635508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+ LLM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635508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벡터 검색</a:t>
            </a:r>
            <a:endParaRPr lang="en-US" sz="1000"/>
          </a:p>
        </p:txBody>
      </p:sp>
      <p:sp>
        <p:nvSpPr>
          <p:cNvPr id="27" name="Text 25"/>
          <p:cNvSpPr txBox="1"/>
          <p:nvPr/>
        </p:nvSpPr>
        <p:spPr>
          <a:xfrm>
            <a:off x="635508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000"/>
          </a:p>
        </p:txBody>
      </p:sp>
      <p:sp>
        <p:nvSpPr>
          <p:cNvPr id="28" name="Text 26"/>
          <p:cNvSpPr txBox="1"/>
          <p:nvPr/>
        </p:nvSpPr>
        <p:spPr>
          <a:xfrm>
            <a:off x="635508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1371600" y="35661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5544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Database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1554480" y="4023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MySQL · Django ORM</a:t>
            </a:r>
            <a:endParaRPr lang="en-US" sz="1000"/>
          </a:p>
        </p:txBody>
      </p:sp>
      <p:sp>
        <p:nvSpPr>
          <p:cNvPr id="32" name="Text 30"/>
          <p:cNvSpPr txBox="1"/>
          <p:nvPr/>
        </p:nvSpPr>
        <p:spPr>
          <a:xfrm>
            <a:off x="1554480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· 대화 · 문서 · 단지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029200" y="35661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2120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Vector Store</a:t>
            </a:r>
            <a:endParaRPr lang="en-US" sz="1200"/>
          </a:p>
        </p:txBody>
      </p:sp>
      <p:sp>
        <p:nvSpPr>
          <p:cNvPr id="35" name="Text 33"/>
          <p:cNvSpPr txBox="1"/>
          <p:nvPr/>
        </p:nvSpPr>
        <p:spPr>
          <a:xfrm>
            <a:off x="5212080" y="4023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</a:t>
            </a:r>
            <a:endParaRPr lang="en-US" sz="1000"/>
          </a:p>
        </p:txBody>
      </p:sp>
      <p:sp>
        <p:nvSpPr>
          <p:cNvPr id="36" name="Text 34"/>
          <p:cNvSpPr txBox="1"/>
          <p:nvPr/>
        </p:nvSpPr>
        <p:spPr>
          <a:xfrm>
            <a:off x="5212080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· 가이드 · 단지 규정 · 지역별 필터링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9172F-79F2-C811-D02D-DE692FDC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6B20E2-3D74-66CA-936F-C7C259A3AF04}"/>
              </a:ext>
            </a:extLst>
          </p:cNvPr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6A4039-6E60-CAB5-72F9-497ECC35D169}"/>
              </a:ext>
            </a:extLst>
          </p:cNvPr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1F16F7-8BC2-6A54-4125-7844756CDB48}"/>
              </a:ext>
            </a:extLst>
          </p:cNvPr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42C85E-755F-81E1-708F-DA81F194F63F}"/>
              </a:ext>
            </a:extLst>
          </p:cNvPr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900"/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B7309F36-0D04-5A4A-F152-4A3E5D91DBA9}"/>
              </a:ext>
            </a:extLst>
          </p:cNvPr>
          <p:cNvGrpSpPr/>
          <p:nvPr/>
        </p:nvGrpSpPr>
        <p:grpSpPr>
          <a:xfrm>
            <a:off x="454695" y="1161789"/>
            <a:ext cx="8298180" cy="3429000"/>
            <a:chOff x="548640" y="1028700"/>
            <a:chExt cx="8298180" cy="3429000"/>
          </a:xfrm>
        </p:grpSpPr>
        <p:sp>
          <p:nvSpPr>
            <p:cNvPr id="51" name="Shape 1">
              <a:extLst>
                <a:ext uri="{FF2B5EF4-FFF2-40B4-BE49-F238E27FC236}">
                  <a16:creationId xmlns:a16="http://schemas.microsoft.com/office/drawing/2014/main" id="{769FAE45-1108-67B9-557D-09193AF6C5BC}"/>
                </a:ext>
              </a:extLst>
            </p:cNvPr>
            <p:cNvSpPr/>
            <p:nvPr/>
          </p:nvSpPr>
          <p:spPr>
            <a:xfrm>
              <a:off x="54864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52" name="Shape 2">
              <a:extLst>
                <a:ext uri="{FF2B5EF4-FFF2-40B4-BE49-F238E27FC236}">
                  <a16:creationId xmlns:a16="http://schemas.microsoft.com/office/drawing/2014/main" id="{44CE1642-486F-0B9D-9D54-59C73D6A10C7}"/>
                </a:ext>
              </a:extLst>
            </p:cNvPr>
            <p:cNvSpPr/>
            <p:nvPr/>
          </p:nvSpPr>
          <p:spPr>
            <a:xfrm>
              <a:off x="54864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3B7DD8"/>
            </a:solidFill>
            <a:ln/>
          </p:spPr>
        </p:sp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40D1870F-AD5A-257C-B983-D3C3D9CA1300}"/>
                </a:ext>
              </a:extLst>
            </p:cNvPr>
            <p:cNvSpPr/>
            <p:nvPr/>
          </p:nvSpPr>
          <p:spPr>
            <a:xfrm>
              <a:off x="548640" y="1303020"/>
              <a:ext cx="1920240" cy="205740"/>
            </a:xfrm>
            <a:prstGeom prst="rect">
              <a:avLst/>
            </a:prstGeom>
            <a:solidFill>
              <a:srgbClr val="3B7DD8"/>
            </a:solidFill>
            <a:ln/>
          </p:spPr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854743DF-3D3A-F8DC-F952-6A5E73E5346C}"/>
                </a:ext>
              </a:extLst>
            </p:cNvPr>
            <p:cNvSpPr txBox="1"/>
            <p:nvPr/>
          </p:nvSpPr>
          <p:spPr>
            <a:xfrm>
              <a:off x="54864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Frontend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5" name="Text 5">
              <a:extLst>
                <a:ext uri="{FF2B5EF4-FFF2-40B4-BE49-F238E27FC236}">
                  <a16:creationId xmlns:a16="http://schemas.microsoft.com/office/drawing/2014/main" id="{E8DB15BE-3116-A29F-5C2A-8922E70FF273}"/>
                </a:ext>
              </a:extLst>
            </p:cNvPr>
            <p:cNvSpPr txBox="1"/>
            <p:nvPr/>
          </p:nvSpPr>
          <p:spPr>
            <a:xfrm>
              <a:off x="75438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E04B5432-21CE-76E4-EE8B-A33A7EC3B18B}"/>
                </a:ext>
              </a:extLst>
            </p:cNvPr>
            <p:cNvSpPr txBox="1"/>
            <p:nvPr/>
          </p:nvSpPr>
          <p:spPr>
            <a:xfrm>
              <a:off x="96012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HTML5 / CSS3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7" name="Text 7">
              <a:extLst>
                <a:ext uri="{FF2B5EF4-FFF2-40B4-BE49-F238E27FC236}">
                  <a16:creationId xmlns:a16="http://schemas.microsoft.com/office/drawing/2014/main" id="{36032E1F-6CBB-82D6-DD14-1137D62CE49F}"/>
                </a:ext>
              </a:extLst>
            </p:cNvPr>
            <p:cNvSpPr txBox="1"/>
            <p:nvPr/>
          </p:nvSpPr>
          <p:spPr>
            <a:xfrm>
              <a:off x="75438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58" name="Text 8">
              <a:extLst>
                <a:ext uri="{FF2B5EF4-FFF2-40B4-BE49-F238E27FC236}">
                  <a16:creationId xmlns:a16="http://schemas.microsoft.com/office/drawing/2014/main" id="{170D5987-AFC7-E88C-CB7A-97C1D8A4375F}"/>
                </a:ext>
              </a:extLst>
            </p:cNvPr>
            <p:cNvSpPr txBox="1"/>
            <p:nvPr/>
          </p:nvSpPr>
          <p:spPr>
            <a:xfrm>
              <a:off x="96012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Vanilla JavaScript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FD690107-573B-8E52-86CF-A0BD064DF113}"/>
                </a:ext>
              </a:extLst>
            </p:cNvPr>
            <p:cNvSpPr txBox="1"/>
            <p:nvPr/>
          </p:nvSpPr>
          <p:spPr>
            <a:xfrm>
              <a:off x="75438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38822A40-7B24-6E37-7757-FFC52623B87E}"/>
                </a:ext>
              </a:extLst>
            </p:cNvPr>
            <p:cNvSpPr txBox="1"/>
            <p:nvPr/>
          </p:nvSpPr>
          <p:spPr>
            <a:xfrm>
              <a:off x="96012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Fetch API + CSRF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1" name="Text 11">
              <a:extLst>
                <a:ext uri="{FF2B5EF4-FFF2-40B4-BE49-F238E27FC236}">
                  <a16:creationId xmlns:a16="http://schemas.microsoft.com/office/drawing/2014/main" id="{06DC124E-5528-D25A-399A-AFA3B869A150}"/>
                </a:ext>
              </a:extLst>
            </p:cNvPr>
            <p:cNvSpPr txBox="1"/>
            <p:nvPr/>
          </p:nvSpPr>
          <p:spPr>
            <a:xfrm>
              <a:off x="75438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62" name="Text 12">
              <a:extLst>
                <a:ext uri="{FF2B5EF4-FFF2-40B4-BE49-F238E27FC236}">
                  <a16:creationId xmlns:a16="http://schemas.microsoft.com/office/drawing/2014/main" id="{EBE9B3D6-C225-BE97-22B9-D9C0548DDC47}"/>
                </a:ext>
              </a:extLst>
            </p:cNvPr>
            <p:cNvSpPr txBox="1"/>
            <p:nvPr/>
          </p:nvSpPr>
          <p:spPr>
            <a:xfrm>
              <a:off x="96012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반응형</a:t>
              </a: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디자인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38301F9F-5F34-A529-FA41-0F7A5654DF91}"/>
                </a:ext>
              </a:extLst>
            </p:cNvPr>
            <p:cNvSpPr/>
            <p:nvPr/>
          </p:nvSpPr>
          <p:spPr>
            <a:xfrm>
              <a:off x="267462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64" name="Shape 14">
              <a:extLst>
                <a:ext uri="{FF2B5EF4-FFF2-40B4-BE49-F238E27FC236}">
                  <a16:creationId xmlns:a16="http://schemas.microsoft.com/office/drawing/2014/main" id="{0BBE744B-C41A-6C16-8E9D-048A169B6FE0}"/>
                </a:ext>
              </a:extLst>
            </p:cNvPr>
            <p:cNvSpPr/>
            <p:nvPr/>
          </p:nvSpPr>
          <p:spPr>
            <a:xfrm>
              <a:off x="267462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2C5F2D"/>
            </a:solidFill>
            <a:ln/>
          </p:spPr>
        </p:sp>
        <p:sp>
          <p:nvSpPr>
            <p:cNvPr id="65" name="Shape 15">
              <a:extLst>
                <a:ext uri="{FF2B5EF4-FFF2-40B4-BE49-F238E27FC236}">
                  <a16:creationId xmlns:a16="http://schemas.microsoft.com/office/drawing/2014/main" id="{1BA600EB-100A-0D79-7856-8D608532117E}"/>
                </a:ext>
              </a:extLst>
            </p:cNvPr>
            <p:cNvSpPr/>
            <p:nvPr/>
          </p:nvSpPr>
          <p:spPr>
            <a:xfrm>
              <a:off x="2674620" y="1303020"/>
              <a:ext cx="1920240" cy="205740"/>
            </a:xfrm>
            <a:prstGeom prst="rect">
              <a:avLst/>
            </a:prstGeom>
            <a:solidFill>
              <a:srgbClr val="2C5F2D"/>
            </a:solidFill>
            <a:ln/>
          </p:spPr>
        </p:sp>
        <p:sp>
          <p:nvSpPr>
            <p:cNvPr id="66" name="Text 16">
              <a:extLst>
                <a:ext uri="{FF2B5EF4-FFF2-40B4-BE49-F238E27FC236}">
                  <a16:creationId xmlns:a16="http://schemas.microsoft.com/office/drawing/2014/main" id="{C7D3B6DB-95E4-8EAB-044A-3116EA74C1E4}"/>
                </a:ext>
              </a:extLst>
            </p:cNvPr>
            <p:cNvSpPr txBox="1"/>
            <p:nvPr/>
          </p:nvSpPr>
          <p:spPr>
            <a:xfrm>
              <a:off x="267462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Backend</a:t>
              </a:r>
              <a:endParaRPr lang="en-US" altLang="ko-KR" sz="1500">
                <a:ea typeface="Calibri"/>
                <a:cs typeface="Calibri"/>
              </a:endParaRPr>
            </a:p>
          </p:txBody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31B21209-5400-929D-1C59-7A10D24CC64E}"/>
                </a:ext>
              </a:extLst>
            </p:cNvPr>
            <p:cNvSpPr txBox="1"/>
            <p:nvPr/>
          </p:nvSpPr>
          <p:spPr>
            <a:xfrm>
              <a:off x="288036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68" name="Text 18">
              <a:extLst>
                <a:ext uri="{FF2B5EF4-FFF2-40B4-BE49-F238E27FC236}">
                  <a16:creationId xmlns:a16="http://schemas.microsoft.com/office/drawing/2014/main" id="{9ECA45C5-ABB9-BA90-60E9-A1C5035D7027}"/>
                </a:ext>
              </a:extLst>
            </p:cNvPr>
            <p:cNvSpPr txBox="1"/>
            <p:nvPr/>
          </p:nvSpPr>
          <p:spPr>
            <a:xfrm>
              <a:off x="308610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Django 5.x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9" name="Text 19">
              <a:extLst>
                <a:ext uri="{FF2B5EF4-FFF2-40B4-BE49-F238E27FC236}">
                  <a16:creationId xmlns:a16="http://schemas.microsoft.com/office/drawing/2014/main" id="{9EA34D68-16CC-39D1-FD07-7197A33B92F4}"/>
                </a:ext>
              </a:extLst>
            </p:cNvPr>
            <p:cNvSpPr txBox="1"/>
            <p:nvPr/>
          </p:nvSpPr>
          <p:spPr>
            <a:xfrm>
              <a:off x="288036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4674C4D1-D469-FEB0-F83B-1CF9D1B10474}"/>
                </a:ext>
              </a:extLst>
            </p:cNvPr>
            <p:cNvSpPr txBox="1"/>
            <p:nvPr/>
          </p:nvSpPr>
          <p:spPr>
            <a:xfrm>
              <a:off x="308610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Class-Based Views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33A04BB1-1B86-CD26-958D-8A757C3A862C}"/>
                </a:ext>
              </a:extLst>
            </p:cNvPr>
            <p:cNvSpPr txBox="1"/>
            <p:nvPr/>
          </p:nvSpPr>
          <p:spPr>
            <a:xfrm>
              <a:off x="288036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37CFFB16-99D0-D08E-0145-6BC6A366349D}"/>
                </a:ext>
              </a:extLst>
            </p:cNvPr>
            <p:cNvSpPr txBox="1"/>
            <p:nvPr/>
          </p:nvSpPr>
          <p:spPr>
            <a:xfrm>
              <a:off x="308610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Django ORM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BE326EA3-3136-DCFA-8A20-24B8551478D1}"/>
                </a:ext>
              </a:extLst>
            </p:cNvPr>
            <p:cNvSpPr txBox="1"/>
            <p:nvPr/>
          </p:nvSpPr>
          <p:spPr>
            <a:xfrm>
              <a:off x="288036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7DB9C108-84DD-9C66-ACA0-B15EB6DAA20D}"/>
                </a:ext>
              </a:extLst>
            </p:cNvPr>
            <p:cNvSpPr txBox="1"/>
            <p:nvPr/>
          </p:nvSpPr>
          <p:spPr>
            <a:xfrm>
              <a:off x="308610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SQLite / MySQL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5" name="Shape 25">
              <a:extLst>
                <a:ext uri="{FF2B5EF4-FFF2-40B4-BE49-F238E27FC236}">
                  <a16:creationId xmlns:a16="http://schemas.microsoft.com/office/drawing/2014/main" id="{E1F17F34-1057-98B5-B187-74423806997A}"/>
                </a:ext>
              </a:extLst>
            </p:cNvPr>
            <p:cNvSpPr/>
            <p:nvPr/>
          </p:nvSpPr>
          <p:spPr>
            <a:xfrm>
              <a:off x="480060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76" name="Shape 26">
              <a:extLst>
                <a:ext uri="{FF2B5EF4-FFF2-40B4-BE49-F238E27FC236}">
                  <a16:creationId xmlns:a16="http://schemas.microsoft.com/office/drawing/2014/main" id="{735C1F27-3A56-DF19-F03D-4282FA625E8C}"/>
                </a:ext>
              </a:extLst>
            </p:cNvPr>
            <p:cNvSpPr/>
            <p:nvPr/>
          </p:nvSpPr>
          <p:spPr>
            <a:xfrm>
              <a:off x="480060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D4890B"/>
            </a:solidFill>
            <a:ln/>
          </p:spPr>
        </p:sp>
        <p:sp>
          <p:nvSpPr>
            <p:cNvPr id="77" name="Shape 27">
              <a:extLst>
                <a:ext uri="{FF2B5EF4-FFF2-40B4-BE49-F238E27FC236}">
                  <a16:creationId xmlns:a16="http://schemas.microsoft.com/office/drawing/2014/main" id="{095D674D-75AD-E139-CE16-5C45AB84FAA6}"/>
                </a:ext>
              </a:extLst>
            </p:cNvPr>
            <p:cNvSpPr/>
            <p:nvPr/>
          </p:nvSpPr>
          <p:spPr>
            <a:xfrm>
              <a:off x="4800600" y="1303020"/>
              <a:ext cx="1920240" cy="205740"/>
            </a:xfrm>
            <a:prstGeom prst="rect">
              <a:avLst/>
            </a:prstGeom>
            <a:solidFill>
              <a:srgbClr val="D4890B"/>
            </a:solidFill>
            <a:ln/>
          </p:spPr>
        </p:sp>
        <p:sp>
          <p:nvSpPr>
            <p:cNvPr id="78" name="Text 28">
              <a:extLst>
                <a:ext uri="{FF2B5EF4-FFF2-40B4-BE49-F238E27FC236}">
                  <a16:creationId xmlns:a16="http://schemas.microsoft.com/office/drawing/2014/main" id="{7C2F7BB6-77B9-8B19-0180-1B9386683554}"/>
                </a:ext>
              </a:extLst>
            </p:cNvPr>
            <p:cNvSpPr txBox="1"/>
            <p:nvPr/>
          </p:nvSpPr>
          <p:spPr>
            <a:xfrm>
              <a:off x="480060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AI / RAG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9" name="Text 29">
              <a:extLst>
                <a:ext uri="{FF2B5EF4-FFF2-40B4-BE49-F238E27FC236}">
                  <a16:creationId xmlns:a16="http://schemas.microsoft.com/office/drawing/2014/main" id="{0FA80F7D-B65D-D61F-E35A-AA03EB09FA48}"/>
                </a:ext>
              </a:extLst>
            </p:cNvPr>
            <p:cNvSpPr txBox="1"/>
            <p:nvPr/>
          </p:nvSpPr>
          <p:spPr>
            <a:xfrm>
              <a:off x="500634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80" name="Text 30">
              <a:extLst>
                <a:ext uri="{FF2B5EF4-FFF2-40B4-BE49-F238E27FC236}">
                  <a16:creationId xmlns:a16="http://schemas.microsoft.com/office/drawing/2014/main" id="{9ABB9796-365D-EF37-7D1C-36790FC29E50}"/>
                </a:ext>
              </a:extLst>
            </p:cNvPr>
            <p:cNvSpPr txBox="1"/>
            <p:nvPr/>
          </p:nvSpPr>
          <p:spPr>
            <a:xfrm>
              <a:off x="521208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Gemini 2.5 Flash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" name="Text 31">
              <a:extLst>
                <a:ext uri="{FF2B5EF4-FFF2-40B4-BE49-F238E27FC236}">
                  <a16:creationId xmlns:a16="http://schemas.microsoft.com/office/drawing/2014/main" id="{414B0DD4-1ADB-8F46-1783-E9EF79623C48}"/>
                </a:ext>
              </a:extLst>
            </p:cNvPr>
            <p:cNvSpPr txBox="1"/>
            <p:nvPr/>
          </p:nvSpPr>
          <p:spPr>
            <a:xfrm>
              <a:off x="500634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82" name="Text 32">
              <a:extLst>
                <a:ext uri="{FF2B5EF4-FFF2-40B4-BE49-F238E27FC236}">
                  <a16:creationId xmlns:a16="http://schemas.microsoft.com/office/drawing/2014/main" id="{178F49E5-6D2D-D353-DA77-C65E3DCB7028}"/>
                </a:ext>
              </a:extLst>
            </p:cNvPr>
            <p:cNvSpPr txBox="1"/>
            <p:nvPr/>
          </p:nvSpPr>
          <p:spPr>
            <a:xfrm>
              <a:off x="521208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OpenAI Embeddings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3" name="Text 33">
              <a:extLst>
                <a:ext uri="{FF2B5EF4-FFF2-40B4-BE49-F238E27FC236}">
                  <a16:creationId xmlns:a16="http://schemas.microsoft.com/office/drawing/2014/main" id="{8A5D17E2-51D2-F8DE-A40F-79567A0EDB00}"/>
                </a:ext>
              </a:extLst>
            </p:cNvPr>
            <p:cNvSpPr txBox="1"/>
            <p:nvPr/>
          </p:nvSpPr>
          <p:spPr>
            <a:xfrm>
              <a:off x="500634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84" name="Text 34">
              <a:extLst>
                <a:ext uri="{FF2B5EF4-FFF2-40B4-BE49-F238E27FC236}">
                  <a16:creationId xmlns:a16="http://schemas.microsoft.com/office/drawing/2014/main" id="{8260AC8E-50CB-EF14-6109-6C20A79AEA95}"/>
                </a:ext>
              </a:extLst>
            </p:cNvPr>
            <p:cNvSpPr txBox="1"/>
            <p:nvPr/>
          </p:nvSpPr>
          <p:spPr>
            <a:xfrm>
              <a:off x="521208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FAISS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벡터</a:t>
              </a: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검색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5" name="Text 35">
              <a:extLst>
                <a:ext uri="{FF2B5EF4-FFF2-40B4-BE49-F238E27FC236}">
                  <a16:creationId xmlns:a16="http://schemas.microsoft.com/office/drawing/2014/main" id="{32643C44-5711-EF80-B8D8-C39D2E5CF972}"/>
                </a:ext>
              </a:extLst>
            </p:cNvPr>
            <p:cNvSpPr txBox="1"/>
            <p:nvPr/>
          </p:nvSpPr>
          <p:spPr>
            <a:xfrm>
              <a:off x="500634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86" name="Text 36">
              <a:extLst>
                <a:ext uri="{FF2B5EF4-FFF2-40B4-BE49-F238E27FC236}">
                  <a16:creationId xmlns:a16="http://schemas.microsoft.com/office/drawing/2014/main" id="{72EEC77E-C85C-AF36-43EB-671D7FF3F6E3}"/>
                </a:ext>
              </a:extLst>
            </p:cNvPr>
            <p:cNvSpPr txBox="1"/>
            <p:nvPr/>
          </p:nvSpPr>
          <p:spPr>
            <a:xfrm>
              <a:off x="521208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LangChain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7" name="Shape 37">
              <a:extLst>
                <a:ext uri="{FF2B5EF4-FFF2-40B4-BE49-F238E27FC236}">
                  <a16:creationId xmlns:a16="http://schemas.microsoft.com/office/drawing/2014/main" id="{49ADED4D-5C98-56D9-7FFD-3C1BC31AC8E5}"/>
                </a:ext>
              </a:extLst>
            </p:cNvPr>
            <p:cNvSpPr/>
            <p:nvPr/>
          </p:nvSpPr>
          <p:spPr>
            <a:xfrm>
              <a:off x="692658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88" name="Shape 38">
              <a:extLst>
                <a:ext uri="{FF2B5EF4-FFF2-40B4-BE49-F238E27FC236}">
                  <a16:creationId xmlns:a16="http://schemas.microsoft.com/office/drawing/2014/main" id="{FAA95CAF-5CA5-F9F6-CC41-8C68BFB3F909}"/>
                </a:ext>
              </a:extLst>
            </p:cNvPr>
            <p:cNvSpPr/>
            <p:nvPr/>
          </p:nvSpPr>
          <p:spPr>
            <a:xfrm>
              <a:off x="692658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C0392B"/>
            </a:solidFill>
            <a:ln/>
          </p:spPr>
        </p:sp>
        <p:sp>
          <p:nvSpPr>
            <p:cNvPr id="89" name="Shape 39">
              <a:extLst>
                <a:ext uri="{FF2B5EF4-FFF2-40B4-BE49-F238E27FC236}">
                  <a16:creationId xmlns:a16="http://schemas.microsoft.com/office/drawing/2014/main" id="{2C5293CA-6BFD-E3FF-6BCB-DB91334724C0}"/>
                </a:ext>
              </a:extLst>
            </p:cNvPr>
            <p:cNvSpPr/>
            <p:nvPr/>
          </p:nvSpPr>
          <p:spPr>
            <a:xfrm>
              <a:off x="6926580" y="1303020"/>
              <a:ext cx="1920240" cy="205740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90" name="Text 40">
              <a:extLst>
                <a:ext uri="{FF2B5EF4-FFF2-40B4-BE49-F238E27FC236}">
                  <a16:creationId xmlns:a16="http://schemas.microsoft.com/office/drawing/2014/main" id="{C467BA7F-8C94-1284-1168-2E8183C1ED13}"/>
                </a:ext>
              </a:extLst>
            </p:cNvPr>
            <p:cNvSpPr txBox="1"/>
            <p:nvPr/>
          </p:nvSpPr>
          <p:spPr>
            <a:xfrm>
              <a:off x="692658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Infra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1" name="Text 41">
              <a:extLst>
                <a:ext uri="{FF2B5EF4-FFF2-40B4-BE49-F238E27FC236}">
                  <a16:creationId xmlns:a16="http://schemas.microsoft.com/office/drawing/2014/main" id="{2FDAE6DE-18B8-238C-E1C9-802450DECDE1}"/>
                </a:ext>
              </a:extLst>
            </p:cNvPr>
            <p:cNvSpPr txBox="1"/>
            <p:nvPr/>
          </p:nvSpPr>
          <p:spPr>
            <a:xfrm>
              <a:off x="713232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92" name="Text 42">
              <a:extLst>
                <a:ext uri="{FF2B5EF4-FFF2-40B4-BE49-F238E27FC236}">
                  <a16:creationId xmlns:a16="http://schemas.microsoft.com/office/drawing/2014/main" id="{9A9B205B-857F-48C8-BC4B-78745D132FDA}"/>
                </a:ext>
              </a:extLst>
            </p:cNvPr>
            <p:cNvSpPr txBox="1"/>
            <p:nvPr/>
          </p:nvSpPr>
          <p:spPr>
            <a:xfrm>
              <a:off x="733806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Python 3.12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3" name="Text 43">
              <a:extLst>
                <a:ext uri="{FF2B5EF4-FFF2-40B4-BE49-F238E27FC236}">
                  <a16:creationId xmlns:a16="http://schemas.microsoft.com/office/drawing/2014/main" id="{E52ABFA3-C403-CA67-5C61-150390C50BAD}"/>
                </a:ext>
              </a:extLst>
            </p:cNvPr>
            <p:cNvSpPr txBox="1"/>
            <p:nvPr/>
          </p:nvSpPr>
          <p:spPr>
            <a:xfrm>
              <a:off x="713232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94" name="Text 44">
              <a:extLst>
                <a:ext uri="{FF2B5EF4-FFF2-40B4-BE49-F238E27FC236}">
                  <a16:creationId xmlns:a16="http://schemas.microsoft.com/office/drawing/2014/main" id="{D5CF13E2-587F-41E0-980F-D6F3B15ABDB1}"/>
                </a:ext>
              </a:extLst>
            </p:cNvPr>
            <p:cNvSpPr txBox="1"/>
            <p:nvPr/>
          </p:nvSpPr>
          <p:spPr>
            <a:xfrm>
              <a:off x="733806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Git / GitHub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5" name="Text 45">
              <a:extLst>
                <a:ext uri="{FF2B5EF4-FFF2-40B4-BE49-F238E27FC236}">
                  <a16:creationId xmlns:a16="http://schemas.microsoft.com/office/drawing/2014/main" id="{84A40945-AAC1-66E7-9C3A-78CB779431E9}"/>
                </a:ext>
              </a:extLst>
            </p:cNvPr>
            <p:cNvSpPr txBox="1"/>
            <p:nvPr/>
          </p:nvSpPr>
          <p:spPr>
            <a:xfrm>
              <a:off x="713232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96" name="Text 46">
              <a:extLst>
                <a:ext uri="{FF2B5EF4-FFF2-40B4-BE49-F238E27FC236}">
                  <a16:creationId xmlns:a16="http://schemas.microsoft.com/office/drawing/2014/main" id="{D8BC2439-380C-9D89-BF55-66A26273D1E0}"/>
                </a:ext>
              </a:extLst>
            </p:cNvPr>
            <p:cNvSpPr txBox="1"/>
            <p:nvPr/>
          </p:nvSpPr>
          <p:spPr>
            <a:xfrm>
              <a:off x="733806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pip /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venv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7" name="Text 47">
              <a:extLst>
                <a:ext uri="{FF2B5EF4-FFF2-40B4-BE49-F238E27FC236}">
                  <a16:creationId xmlns:a16="http://schemas.microsoft.com/office/drawing/2014/main" id="{5158F649-8918-C4A8-5A32-2DD50FD5E8FE}"/>
                </a:ext>
              </a:extLst>
            </p:cNvPr>
            <p:cNvSpPr txBox="1"/>
            <p:nvPr/>
          </p:nvSpPr>
          <p:spPr>
            <a:xfrm>
              <a:off x="713232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/>
            </a:p>
          </p:txBody>
        </p:sp>
        <p:sp>
          <p:nvSpPr>
            <p:cNvPr id="98" name="Text 48">
              <a:extLst>
                <a:ext uri="{FF2B5EF4-FFF2-40B4-BE49-F238E27FC236}">
                  <a16:creationId xmlns:a16="http://schemas.microsoft.com/office/drawing/2014/main" id="{5EC41BB1-5B58-ACE0-2466-6741318B5290}"/>
                </a:ext>
              </a:extLst>
            </p:cNvPr>
            <p:cNvSpPr txBox="1"/>
            <p:nvPr/>
          </p:nvSpPr>
          <p:spPr>
            <a:xfrm>
              <a:off x="733806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dotenv</a:t>
              </a: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설정</a:t>
              </a:r>
              <a:r>
                <a:rPr lang="en-US" sz="120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관리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27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아파트 단지 시스템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"어느 단지 소속인지"가 챗봇 답변과 커뮤니티 접근 범위를 결정합니다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검색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입주민이 아파트를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검색하여 찾기</a:t>
            </a:r>
            <a:endParaRPr lang="en-US" sz="1000"/>
          </a:p>
        </p:txBody>
      </p:sp>
      <p:sp>
        <p:nvSpPr>
          <p:cNvPr id="11" name="Text 9"/>
          <p:cNvSpPr txBox="1"/>
          <p:nvPr/>
        </p:nvSpPr>
        <p:spPr>
          <a:xfrm>
            <a:off x="21488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/>
          </a:p>
        </p:txBody>
      </p:sp>
      <p:sp>
        <p:nvSpPr>
          <p:cNvPr id="14" name="Text 12"/>
          <p:cNvSpPr txBox="1"/>
          <p:nvPr/>
        </p:nvSpPr>
        <p:spPr>
          <a:xfrm>
            <a:off x="274320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신청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265176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단지에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요청</a:t>
            </a:r>
            <a:endParaRPr lang="en-US" sz="1000"/>
          </a:p>
        </p:txBody>
      </p:sp>
      <p:sp>
        <p:nvSpPr>
          <p:cNvPr id="16" name="Text 14"/>
          <p:cNvSpPr txBox="1"/>
          <p:nvPr/>
        </p:nvSpPr>
        <p:spPr>
          <a:xfrm>
            <a:off x="42976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534924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492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/>
          </a:p>
        </p:txBody>
      </p:sp>
      <p:sp>
        <p:nvSpPr>
          <p:cNvPr id="19" name="Text 17"/>
          <p:cNvSpPr txBox="1"/>
          <p:nvPr/>
        </p:nvSpPr>
        <p:spPr>
          <a:xfrm>
            <a:off x="489204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승인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480060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관리사무소 관리자가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처리</a:t>
            </a:r>
            <a:endParaRPr lang="en-US" sz="1000"/>
          </a:p>
        </p:txBody>
      </p:sp>
      <p:sp>
        <p:nvSpPr>
          <p:cNvPr id="21" name="Text 19"/>
          <p:cNvSpPr txBox="1"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749808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/>
          </a:p>
        </p:txBody>
      </p:sp>
      <p:sp>
        <p:nvSpPr>
          <p:cNvPr id="24" name="Text 22"/>
          <p:cNvSpPr txBox="1"/>
          <p:nvPr/>
        </p:nvSpPr>
        <p:spPr>
          <a:xfrm>
            <a:off x="704088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확정</a:t>
            </a:r>
            <a:endParaRPr lang="en-US" sz="1300"/>
          </a:p>
        </p:txBody>
      </p:sp>
      <p:sp>
        <p:nvSpPr>
          <p:cNvPr id="25" name="Text 23"/>
          <p:cNvSpPr txBox="1"/>
          <p:nvPr/>
        </p:nvSpPr>
        <p:spPr>
          <a:xfrm>
            <a:off x="694944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규정 + 커뮤니티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부여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왜 중요한가</a:t>
            </a:r>
            <a:endParaRPr lang="en-US" sz="1300"/>
          </a:p>
        </p:txBody>
      </p:sp>
      <p:sp>
        <p:nvSpPr>
          <p:cNvPr id="28" name="Text 26"/>
          <p:cNvSpPr txBox="1"/>
          <p:nvPr/>
        </p:nvSpPr>
        <p:spPr>
          <a:xfrm>
            <a:off x="77724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단지 규정 문서가 해당 단지 소속 입주민에게만 근거로 잡히도록, 검색 단계에서 apartment_id 완전 일치 필터를 강제합니다.</a:t>
            </a:r>
            <a:endParaRPr lang="en-US" sz="1000"/>
          </a:p>
        </p:txBody>
      </p:sp>
      <p:sp>
        <p:nvSpPr>
          <p:cNvPr id="29" name="Text 27"/>
          <p:cNvSpPr txBox="1"/>
          <p:nvPr/>
        </p:nvSpPr>
        <p:spPr>
          <a:xfrm>
            <a:off x="77724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승인 전에는 "우리 단지" 컨텍스트가 전혀 노출되지 않습니다 (fail-closed).</a:t>
            </a:r>
            <a:endParaRPr lang="en-US" sz="1000"/>
          </a:p>
        </p:txBody>
      </p:sp>
      <p:sp>
        <p:nvSpPr>
          <p:cNvPr id="30" name="Text 28"/>
          <p:cNvSpPr txBox="1"/>
          <p:nvPr/>
        </p:nvSpPr>
        <p:spPr>
          <a:xfrm>
            <a:off x="77724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관리사무소 관리자가 단지별 규정을 등록·검토하고, 입주민 가입을 승인합니다.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역할 &amp; 권한 체계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(Resident)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챗봇 질의응답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4008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답변 피드백 (좋아요/싫어요)</a:t>
            </a:r>
            <a:endParaRPr lang="en-US" sz="1050"/>
          </a:p>
        </p:txBody>
      </p:sp>
      <p:sp>
        <p:nvSpPr>
          <p:cNvPr id="11" name="Text 9"/>
          <p:cNvSpPr txBox="1"/>
          <p:nvPr/>
        </p:nvSpPr>
        <p:spPr>
          <a:xfrm>
            <a:off x="64008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커뮤니티 게시판 이용</a:t>
            </a:r>
            <a:endParaRPr lang="en-US" sz="1050"/>
          </a:p>
        </p:txBody>
      </p:sp>
      <p:sp>
        <p:nvSpPr>
          <p:cNvPr id="12" name="Text 10"/>
          <p:cNvSpPr txBox="1"/>
          <p:nvPr/>
        </p:nvSpPr>
        <p:spPr>
          <a:xfrm>
            <a:off x="64008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아파트 가입 신청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>
          <a:xfrm>
            <a:off x="640080" y="3218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마이페이지 관리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2044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중간관리자 (Manager)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단지 규정 업로드/관리</a:t>
            </a:r>
            <a:endParaRPr lang="en-US" sz="1050"/>
          </a:p>
        </p:txBody>
      </p:sp>
      <p:sp>
        <p:nvSpPr>
          <p:cNvPr id="18" name="Text 16"/>
          <p:cNvSpPr txBox="1"/>
          <p:nvPr/>
        </p:nvSpPr>
        <p:spPr>
          <a:xfrm>
            <a:off x="352044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입주민 승인/거절</a:t>
            </a:r>
            <a:endParaRPr lang="en-US" sz="1050"/>
          </a:p>
        </p:txBody>
      </p:sp>
      <p:sp>
        <p:nvSpPr>
          <p:cNvPr id="19" name="Text 17"/>
          <p:cNvSpPr txBox="1"/>
          <p:nvPr/>
        </p:nvSpPr>
        <p:spPr>
          <a:xfrm>
            <a:off x="352044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커뮤니티 게시글 비공개 처리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352044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단지 대시보드 확인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최종관리자 (Admin)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전체 서비스 관리</a:t>
            </a:r>
            <a:endParaRPr lang="en-US" sz="1050"/>
          </a:p>
        </p:txBody>
      </p:sp>
      <p:sp>
        <p:nvSpPr>
          <p:cNvPr id="25" name="Text 23"/>
          <p:cNvSpPr txBox="1"/>
          <p:nvPr/>
        </p:nvSpPr>
        <p:spPr>
          <a:xfrm>
            <a:off x="640080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관리자 승인</a:t>
            </a:r>
            <a:endParaRPr lang="en-US" sz="1050"/>
          </a:p>
        </p:txBody>
      </p:sp>
      <p:sp>
        <p:nvSpPr>
          <p:cNvPr id="26" name="Text 24"/>
          <p:cNvSpPr txBox="1"/>
          <p:nvPr/>
        </p:nvSpPr>
        <p:spPr>
          <a:xfrm>
            <a:off x="640080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문서/색인 관리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640080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질문 통계/피드백 분석</a:t>
            </a:r>
            <a:endParaRPr lang="en-US" sz="1050"/>
          </a:p>
        </p:txBody>
      </p:sp>
      <p:sp>
        <p:nvSpPr>
          <p:cNvPr id="28" name="Text 26"/>
          <p:cNvSpPr txBox="1"/>
          <p:nvPr/>
        </p:nvSpPr>
        <p:spPr>
          <a:xfrm>
            <a:off x="6400800" y="3218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법령·가이드 업로드</a:t>
            </a:r>
            <a:endParaRPr lang="en-US" sz="1050"/>
          </a:p>
        </p:txBody>
      </p:sp>
      <p:sp>
        <p:nvSpPr>
          <p:cNvPr id="29" name="Text 27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마이페이지로 통합: 내 정보 · 내 단지 · 활동 내역 · 설정 — 역할별 안내 배너 포함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상담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123444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질의응답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123444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일상 언어로 질문하면 RAG 기반으로 관련 문서를 검색하여 근거와 함께 답변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553212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맞춤 답변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553212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지역(서울, 부산, 인천, 대구, 대전, 수원, 세종, 울산, 천안, 제주)별 맞춤 안내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123444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아파트 규정 반영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123444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단지별 관리규약과 배출 규정까지 답변 근거에 포함, 관리사무소 연락처 자동 안내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65176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2000"/>
          </a:p>
        </p:txBody>
      </p:sp>
      <p:sp>
        <p:nvSpPr>
          <p:cNvPr id="24" name="Text 22"/>
          <p:cNvSpPr txBox="1"/>
          <p:nvPr/>
        </p:nvSpPr>
        <p:spPr>
          <a:xfrm>
            <a:off x="553212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 카드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553212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답변을 못 찾을 경우 관리사무소/지자체 연락처를 카드 형태로 제공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</a:t>
            </a:r>
            <a:endParaRPr lang="en-US" sz="2000"/>
          </a:p>
        </p:txBody>
      </p:sp>
      <p:sp>
        <p:nvSpPr>
          <p:cNvPr id="29" name="Text 27"/>
          <p:cNvSpPr txBox="1"/>
          <p:nvPr/>
        </p:nvSpPr>
        <p:spPr>
          <a:xfrm>
            <a:off x="123444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피드백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123444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좋아요/싫어요 피드백으로 답변 품질 모니터링 및 개선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88620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920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000"/>
          </a:p>
        </p:txBody>
      </p:sp>
      <p:sp>
        <p:nvSpPr>
          <p:cNvPr id="34" name="Text 32"/>
          <p:cNvSpPr txBox="1"/>
          <p:nvPr/>
        </p:nvSpPr>
        <p:spPr>
          <a:xfrm>
            <a:off x="553212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질문 추천</a:t>
            </a:r>
            <a:endParaRPr lang="en-US" sz="1200"/>
          </a:p>
        </p:txBody>
      </p:sp>
      <p:sp>
        <p:nvSpPr>
          <p:cNvPr id="35" name="Text 33"/>
          <p:cNvSpPr txBox="1"/>
          <p:nvPr/>
        </p:nvSpPr>
        <p:spPr>
          <a:xfrm>
            <a:off x="553212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실패 시 기존 인기 질문 중 유사한 질문을 추천하여 재질문 유도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· 단지 관리 · 대시보드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 커뮤니티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3716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 CRUD, 댓글, 좋아요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분류, 검색, 페이지네이션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566928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566928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공지 등록 시 전체 입주민 노출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랜딩페이지 배너 연동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200"/>
          </a:p>
        </p:txBody>
      </p:sp>
      <p:sp>
        <p:nvSpPr>
          <p:cNvPr id="19" name="Text 17"/>
          <p:cNvSpPr txBox="1"/>
          <p:nvPr/>
        </p:nvSpPr>
        <p:spPr>
          <a:xfrm>
            <a:off x="137160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규정 관리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137160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중간관리자가 단지별 규정 업로드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 승인/거절, 비공개 처리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FFF8E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/>
          </a:p>
        </p:txBody>
      </p:sp>
      <p:sp>
        <p:nvSpPr>
          <p:cNvPr id="24" name="Text 22"/>
          <p:cNvSpPr txBox="1"/>
          <p:nvPr/>
        </p:nvSpPr>
        <p:spPr>
          <a:xfrm>
            <a:off x="566928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최종관리자 대시보드</a:t>
            </a:r>
            <a:endParaRPr lang="en-US" sz="1300"/>
          </a:p>
        </p:txBody>
      </p:sp>
      <p:sp>
        <p:nvSpPr>
          <p:cNvPr id="25" name="Text 23"/>
          <p:cNvSpPr txBox="1"/>
          <p:nvPr/>
        </p:nvSpPr>
        <p:spPr>
          <a:xfrm>
            <a:off x="566928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통계 · 단지 관리 · 문서 관리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3탭 구성, 피드백 만족도 (지역별 필터링)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동작 흐름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320040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입력</a:t>
            </a:r>
            <a:endParaRPr lang="en-US" sz="1000"/>
          </a:p>
        </p:txBody>
      </p:sp>
      <p:sp>
        <p:nvSpPr>
          <p:cNvPr id="10" name="Text 8"/>
          <p:cNvSpPr txBox="1"/>
          <p:nvPr/>
        </p:nvSpPr>
        <p:spPr>
          <a:xfrm>
            <a:off x="22860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자연어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수신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3258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2039112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911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1764792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endParaRPr lang="en-US" sz="1000"/>
          </a:p>
        </p:txBody>
      </p:sp>
      <p:sp>
        <p:nvSpPr>
          <p:cNvPr id="15" name="Text 13"/>
          <p:cNvSpPr txBox="1"/>
          <p:nvPr/>
        </p:nvSpPr>
        <p:spPr>
          <a:xfrm>
            <a:off x="1673352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API로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벡터화</a:t>
            </a:r>
            <a:endParaRPr lang="en-US" sz="850"/>
          </a:p>
        </p:txBody>
      </p:sp>
      <p:sp>
        <p:nvSpPr>
          <p:cNvPr id="16" name="Text 14"/>
          <p:cNvSpPr txBox="1"/>
          <p:nvPr/>
        </p:nvSpPr>
        <p:spPr>
          <a:xfrm>
            <a:off x="2770632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3483864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83864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3209544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검색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3118104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FAISS에서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문서 검색</a:t>
            </a:r>
            <a:endParaRPr lang="en-US" sz="850"/>
          </a:p>
        </p:txBody>
      </p:sp>
      <p:sp>
        <p:nvSpPr>
          <p:cNvPr id="21" name="Text 19"/>
          <p:cNvSpPr txBox="1"/>
          <p:nvPr/>
        </p:nvSpPr>
        <p:spPr>
          <a:xfrm>
            <a:off x="4215384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4928616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2861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4654296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배분</a:t>
            </a:r>
            <a:endParaRPr lang="en-US" sz="1000"/>
          </a:p>
        </p:txBody>
      </p:sp>
      <p:sp>
        <p:nvSpPr>
          <p:cNvPr id="25" name="Text 23"/>
          <p:cNvSpPr txBox="1"/>
          <p:nvPr/>
        </p:nvSpPr>
        <p:spPr>
          <a:xfrm>
            <a:off x="4562856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지역/공통/법령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쿼터별 분배</a:t>
            </a:r>
            <a:endParaRPr lang="en-US" sz="850"/>
          </a:p>
        </p:txBody>
      </p:sp>
      <p:sp>
        <p:nvSpPr>
          <p:cNvPr id="26" name="Text 24"/>
          <p:cNvSpPr txBox="1"/>
          <p:nvPr/>
        </p:nvSpPr>
        <p:spPr>
          <a:xfrm>
            <a:off x="5660136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6373368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7336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6099048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생성</a:t>
            </a:r>
            <a:endParaRPr lang="en-US" sz="1000"/>
          </a:p>
        </p:txBody>
      </p:sp>
      <p:sp>
        <p:nvSpPr>
          <p:cNvPr id="30" name="Text 28"/>
          <p:cNvSpPr txBox="1"/>
          <p:nvPr/>
        </p:nvSpPr>
        <p:spPr>
          <a:xfrm>
            <a:off x="6007608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Gemini로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기반 생성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7104888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781812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181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/>
          </a:p>
        </p:txBody>
      </p:sp>
      <p:sp>
        <p:nvSpPr>
          <p:cNvPr id="34" name="Text 32"/>
          <p:cNvSpPr txBox="1"/>
          <p:nvPr/>
        </p:nvSpPr>
        <p:spPr>
          <a:xfrm>
            <a:off x="7543800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반환</a:t>
            </a:r>
            <a:endParaRPr lang="en-US" sz="1000"/>
          </a:p>
        </p:txBody>
      </p:sp>
      <p:sp>
        <p:nvSpPr>
          <p:cNvPr id="35" name="Text 33"/>
          <p:cNvSpPr txBox="1"/>
          <p:nvPr/>
        </p:nvSpPr>
        <p:spPr>
          <a:xfrm>
            <a:off x="745236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답변+팁+출처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응답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쿼터 배분 (Balanced Search)</a:t>
            </a:r>
            <a:endParaRPr lang="en-US" sz="1100"/>
          </a:p>
        </p:txBody>
      </p:sp>
      <p:sp>
        <p:nvSpPr>
          <p:cNvPr id="38" name="Text 36"/>
          <p:cNvSpPr txBox="1"/>
          <p:nvPr/>
        </p:nvSpPr>
        <p:spPr>
          <a:xfrm>
            <a:off x="777240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지역 전용 문서: 2개</a:t>
            </a:r>
            <a:endParaRPr lang="en-US" sz="1000"/>
          </a:p>
        </p:txBody>
      </p:sp>
      <p:sp>
        <p:nvSpPr>
          <p:cNvPr id="39" name="Text 37"/>
          <p:cNvSpPr txBox="1"/>
          <p:nvPr/>
        </p:nvSpPr>
        <p:spPr>
          <a:xfrm>
            <a:off x="777240" y="3493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전국 공통 문서: 1개</a:t>
            </a:r>
            <a:endParaRPr lang="en-US" sz="1000"/>
          </a:p>
        </p:txBody>
      </p:sp>
      <p:sp>
        <p:nvSpPr>
          <p:cNvPr id="40" name="Text 38"/>
          <p:cNvSpPr txBox="1"/>
          <p:nvPr/>
        </p:nvSpPr>
        <p:spPr>
          <a:xfrm>
            <a:off x="777240" y="3785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법령 문서: 2개</a:t>
            </a:r>
            <a:endParaRPr lang="en-US" sz="1000"/>
          </a:p>
        </p:txBody>
      </p:sp>
      <p:sp>
        <p:nvSpPr>
          <p:cNvPr id="41" name="Text 39"/>
          <p:cNvSpPr txBox="1"/>
          <p:nvPr/>
        </p:nvSpPr>
        <p:spPr>
          <a:xfrm>
            <a:off x="777240" y="4078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아파트 규정: 2개 (소속 단지 있을 때)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475488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구조 (3섹션 프롬프트)</a:t>
            </a:r>
            <a:endParaRPr lang="en-US" sz="1100"/>
          </a:p>
        </p:txBody>
      </p:sp>
      <p:sp>
        <p:nvSpPr>
          <p:cNvPr id="44" name="Text 42"/>
          <p:cNvSpPr txBox="1"/>
          <p:nvPr/>
        </p:nvSpPr>
        <p:spPr>
          <a:xfrm>
            <a:off x="489204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GUIDE: 근거 기반 통합 안내</a:t>
            </a:r>
            <a:endParaRPr lang="en-US" sz="1000"/>
          </a:p>
        </p:txBody>
      </p:sp>
      <p:sp>
        <p:nvSpPr>
          <p:cNvPr id="45" name="Text 43"/>
          <p:cNvSpPr txBox="1"/>
          <p:nvPr/>
        </p:nvSpPr>
        <p:spPr>
          <a:xfrm>
            <a:off x="4892040" y="3493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LAW: 관련 법령 조항 인용</a:t>
            </a:r>
            <a:endParaRPr lang="en-US" sz="1000"/>
          </a:p>
        </p:txBody>
      </p:sp>
      <p:sp>
        <p:nvSpPr>
          <p:cNvPr id="46" name="Text 44"/>
          <p:cNvSpPr txBox="1"/>
          <p:nvPr/>
        </p:nvSpPr>
        <p:spPr>
          <a:xfrm>
            <a:off x="489204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TIP: 실천 팁 제공</a:t>
            </a:r>
            <a:endParaRPr lang="en-US" sz="1000"/>
          </a:p>
        </p:txBody>
      </p:sp>
      <p:sp>
        <p:nvSpPr>
          <p:cNvPr id="47" name="Text 45"/>
          <p:cNvSpPr txBox="1"/>
          <p:nvPr/>
        </p:nvSpPr>
        <p:spPr>
          <a:xfrm>
            <a:off x="4892040" y="4078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환각 방지: 근거 없으면 LLM 미호출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시행일 자동 분류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"개정 전 조문"을 "현재 규정"처럼 인용하는 환각을 원천 차단합니다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1188720" y="1527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원문 헤더에서 시행일을 자동 파싱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85800" y="2221992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118872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요청마다 오늘 날짜와 시행일을 비교 (별도 배치 불필요)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118872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시행 전인 조문은 답변 근거에서 자동 제외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85800" y="3648456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1188720" y="36667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시행일이 지나면 다음 질문부터 자동으로 근거에 포함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760720" y="128016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 예정 법령 안내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5943600" y="3682966"/>
            <a:ext cx="2544663" cy="6557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⚠️ </a:t>
            </a:r>
            <a:r>
              <a:rPr lang="ko-KR" alt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예정</a:t>
            </a:r>
            <a:r>
              <a:rPr 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법령</a:t>
            </a:r>
            <a:r>
              <a:rPr 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안내</a:t>
            </a:r>
            <a:br>
              <a:rPr lang="en-US" sz="850">
                <a:latin typeface="Arial"/>
                <a:ea typeface="Arial" pitchFamily="34" charset="-122"/>
                <a:cs typeface="Arial"/>
              </a:rPr>
            </a:b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다음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법령은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아직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전입니다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—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현재는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개정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전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조문이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적용됩니다</a:t>
            </a:r>
            <a:r>
              <a:rPr 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ko-KR" altLang="en-US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폐기물관리법</a:t>
            </a:r>
            <a:r>
              <a:rPr lang="en-US" altLang="ko-KR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(2027-01-08 </a:t>
            </a:r>
            <a:r>
              <a:rPr lang="en-US" altLang="ko-KR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altLang="ko-KR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altLang="ko-KR" sz="85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예정</a:t>
            </a:r>
            <a:r>
              <a:rPr lang="en-US" altLang="ko-KR" sz="85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850" err="1">
              <a:latin typeface="Arial"/>
              <a:cs typeface="Arial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BC06E89-393B-3DCA-FD97-AA99E785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398" y="1816274"/>
            <a:ext cx="2767108" cy="1847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업로드 UX 전면 개선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1280160" y="151251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파일 업로드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128016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파일을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여러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개 한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번에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선택해서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한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번에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색인</a:t>
            </a:r>
            <a:endParaRPr lang="en-US" sz="1100" err="1">
              <a:latin typeface="Arial"/>
              <a:ea typeface="Calibri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08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/>
          </a:p>
        </p:txBody>
      </p:sp>
      <p:sp>
        <p:nvSpPr>
          <p:cNvPr id="14" name="Text 12"/>
          <p:cNvSpPr txBox="1"/>
          <p:nvPr/>
        </p:nvSpPr>
        <p:spPr>
          <a:xfrm>
            <a:off x="5577840" y="151251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직접 선택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5577840" y="1799990"/>
            <a:ext cx="30175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이전엔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자동으로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'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전국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공통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' </a:t>
            </a:r>
            <a:endParaRPr lang="en-US" sz="11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r>
              <a:rPr lang="en-US" altLang="ko-KR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ko-KR" alt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이제 직접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선택해야만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등록됨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버그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수정</a:t>
            </a:r>
            <a:r>
              <a:rPr lang="en-US" sz="110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100">
              <a:latin typeface="Arial"/>
              <a:ea typeface="Calibri"/>
              <a:cs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/>
          </a:p>
        </p:txBody>
      </p:sp>
      <p:sp>
        <p:nvSpPr>
          <p:cNvPr id="19" name="Text 17"/>
          <p:cNvSpPr txBox="1"/>
          <p:nvPr/>
        </p:nvSpPr>
        <p:spPr>
          <a:xfrm>
            <a:off x="1280160" y="320415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업로드 지원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1280160" y="347597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쉼표 원본이 아니라 '헤더: 값' 형태로 변환해 검색 품질까지 개선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/>
          </a:p>
        </p:txBody>
      </p:sp>
      <p:sp>
        <p:nvSpPr>
          <p:cNvPr id="24" name="Text 22"/>
          <p:cNvSpPr txBox="1"/>
          <p:nvPr/>
        </p:nvSpPr>
        <p:spPr>
          <a:xfrm>
            <a:off x="5577840" y="320415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/ 가이드 구분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5577840" y="347597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'국가 전체' 범위에서도 법령·가이드를 구분, 시행일 자동 인식 실제 동작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파이프라인 비교 실험</a:t>
            </a:r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100문항 평가셋 · Legacy vs BM25 vs Hybrid</a:t>
            </a:r>
            <a:endParaRPr lang="en-US" sz="110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887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23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 건수</a:t>
            </a:r>
            <a:endParaRPr lang="en-US" sz="900"/>
          </a:p>
        </p:txBody>
      </p:sp>
      <p:sp>
        <p:nvSpPr>
          <p:cNvPr id="8" name="Shape 5"/>
          <p:cNvSpPr/>
          <p:nvPr/>
        </p:nvSpPr>
        <p:spPr>
          <a:xfrm>
            <a:off x="1645920" y="4041648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645920" y="4041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 10건</a:t>
            </a:r>
            <a:endParaRPr lang="en-US" sz="700"/>
          </a:p>
        </p:txBody>
      </p:sp>
      <p:sp>
        <p:nvSpPr>
          <p:cNvPr id="10" name="Shape 7"/>
          <p:cNvSpPr/>
          <p:nvPr/>
        </p:nvSpPr>
        <p:spPr>
          <a:xfrm>
            <a:off x="3154680" y="4041648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154680" y="40416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 5건</a:t>
            </a:r>
            <a:endParaRPr lang="en-US" sz="700"/>
          </a:p>
        </p:txBody>
      </p:sp>
      <p:sp>
        <p:nvSpPr>
          <p:cNvPr id="12" name="Shape 9"/>
          <p:cNvSpPr/>
          <p:nvPr/>
        </p:nvSpPr>
        <p:spPr>
          <a:xfrm>
            <a:off x="4114800" y="404164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4890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0" y="40416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 2건</a:t>
            </a:r>
            <a:endParaRPr lang="en-US" sz="700"/>
          </a:p>
        </p:txBody>
      </p:sp>
      <p:sp>
        <p:nvSpPr>
          <p:cNvPr id="14" name="Text 11"/>
          <p:cNvSpPr txBox="1"/>
          <p:nvPr/>
        </p:nvSpPr>
        <p:spPr>
          <a:xfrm>
            <a:off x="1645920" y="42519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통과율 차이는 답변 능력이 아닌 오거부 횟수에서 발생</a:t>
            </a:r>
            <a:endParaRPr lang="en-US" sz="800"/>
          </a:p>
        </p:txBody>
      </p:sp>
      <p:sp>
        <p:nvSpPr>
          <p:cNvPr id="15" name="Shape 12"/>
          <p:cNvSpPr/>
          <p:nvPr/>
        </p:nvSpPr>
        <p:spPr>
          <a:xfrm>
            <a:off x="5989320" y="1170432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1234440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8076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/>
          </a:p>
        </p:txBody>
      </p:sp>
      <p:sp>
        <p:nvSpPr>
          <p:cNvPr id="18" name="Text 15"/>
          <p:cNvSpPr txBox="1"/>
          <p:nvPr/>
        </p:nvSpPr>
        <p:spPr>
          <a:xfrm>
            <a:off x="6400800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 역전 현상</a:t>
            </a:r>
            <a:endParaRPr lang="en-US" sz="1000"/>
          </a:p>
        </p:txBody>
      </p:sp>
      <p:sp>
        <p:nvSpPr>
          <p:cNvPr id="19" name="Text 16"/>
          <p:cNvSpPr txBox="1"/>
          <p:nvPr/>
        </p:nvSpPr>
        <p:spPr>
          <a:xfrm>
            <a:off x="6080760" y="152704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R@5는 Hybrid 1위(73.0%)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통과율은 BM25 1위(94%)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검색 성능 ≠ 답변 통과율</a:t>
            </a:r>
            <a:endParaRPr lang="en-US" sz="850"/>
          </a:p>
        </p:txBody>
      </p:sp>
      <p:sp>
        <p:nvSpPr>
          <p:cNvPr id="20" name="Shape 17"/>
          <p:cNvSpPr/>
          <p:nvPr/>
        </p:nvSpPr>
        <p:spPr>
          <a:xfrm>
            <a:off x="5989320" y="22402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0760" y="2304288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8076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/>
          </a:p>
        </p:txBody>
      </p:sp>
      <p:sp>
        <p:nvSpPr>
          <p:cNvPr id="23" name="Text 20"/>
          <p:cNvSpPr txBox="1"/>
          <p:nvPr/>
        </p:nvSpPr>
        <p:spPr>
          <a:xfrm>
            <a:off x="6400800" y="2304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오거부가 차이의 원인</a:t>
            </a:r>
            <a:endParaRPr lang="en-US" sz="1000"/>
          </a:p>
        </p:txBody>
      </p:sp>
      <p:sp>
        <p:nvSpPr>
          <p:cNvPr id="24" name="Text 21"/>
          <p:cNvSpPr txBox="1"/>
          <p:nvPr/>
        </p:nvSpPr>
        <p:spPr>
          <a:xfrm>
            <a:off x="6080760" y="2596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 제외 시 세 파이프라인 모두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~96% 통과율로 동일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검색 개선 효과 = 오거부 감소</a:t>
            </a:r>
            <a:endParaRPr lang="en-US" sz="850"/>
          </a:p>
        </p:txBody>
      </p:sp>
      <p:sp>
        <p:nvSpPr>
          <p:cNvPr id="25" name="Shape 22"/>
          <p:cNvSpPr/>
          <p:nvPr/>
        </p:nvSpPr>
        <p:spPr>
          <a:xfrm>
            <a:off x="5989320" y="331012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EAF2E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80760" y="3374136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80760" y="3374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/>
          </a:p>
        </p:txBody>
      </p:sp>
      <p:sp>
        <p:nvSpPr>
          <p:cNvPr id="28" name="Text 25"/>
          <p:cNvSpPr txBox="1"/>
          <p:nvPr/>
        </p:nvSpPr>
        <p:spPr>
          <a:xfrm>
            <a:off x="6400800" y="3374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선택 → 환각 방지 우선</a:t>
            </a:r>
            <a:endParaRPr lang="en-US" sz="1000"/>
          </a:p>
        </p:txBody>
      </p:sp>
      <p:sp>
        <p:nvSpPr>
          <p:cNvPr id="29" name="Text 26"/>
          <p:cNvSpPr txBox="1"/>
          <p:nvPr/>
        </p:nvSpPr>
        <p:spPr>
          <a:xfrm>
            <a:off x="6080760" y="366674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통과율 +3%p vs Hybrid 환각률 -2%p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환각률 6.0%로 셋 중 최저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요건 = 환각 방지 → Hybrid 채택</a:t>
            </a:r>
            <a:endParaRPr lang="en-US" sz="850"/>
          </a:p>
        </p:txBody>
      </p:sp>
      <p:sp>
        <p:nvSpPr>
          <p:cNvPr id="30" name="Text 27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425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시연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설계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화면 구성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EC-01</a:t>
            </a:r>
            <a:endParaRPr lang="en-US" sz="800"/>
          </a:p>
        </p:txBody>
      </p:sp>
      <p:sp>
        <p:nvSpPr>
          <p:cNvPr id="9" name="Text 7"/>
          <p:cNvSpPr txBox="1"/>
          <p:nvPr/>
        </p:nvSpPr>
        <p:spPr>
          <a:xfrm>
            <a:off x="105156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소개, 기능 카드, 지역 목록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EC-02</a:t>
            </a:r>
            <a:endParaRPr lang="en-US" sz="800"/>
          </a:p>
        </p:txBody>
      </p:sp>
      <p:sp>
        <p:nvSpPr>
          <p:cNvPr id="14" name="Text 12"/>
          <p:cNvSpPr txBox="1"/>
          <p:nvPr/>
        </p:nvSpPr>
        <p:spPr>
          <a:xfrm>
            <a:off x="320040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269748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로그인/회원가입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269748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선택, 아파트 검색 및 가입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EC-03</a:t>
            </a:r>
            <a:endParaRPr lang="en-US" sz="800"/>
          </a:p>
        </p:txBody>
      </p:sp>
      <p:sp>
        <p:nvSpPr>
          <p:cNvPr id="19" name="Text 17"/>
          <p:cNvSpPr txBox="1"/>
          <p:nvPr/>
        </p:nvSpPr>
        <p:spPr>
          <a:xfrm>
            <a:off x="534924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484632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484632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목록, 지역 맞춤 답변, 피드백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690372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99516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EC-04</a:t>
            </a:r>
            <a:endParaRPr lang="en-US" sz="800"/>
          </a:p>
        </p:txBody>
      </p:sp>
      <p:sp>
        <p:nvSpPr>
          <p:cNvPr id="24" name="Text 22"/>
          <p:cNvSpPr txBox="1"/>
          <p:nvPr/>
        </p:nvSpPr>
        <p:spPr>
          <a:xfrm>
            <a:off x="749808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699516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699516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카드형 목록, 카테고리, 댓글/좋아요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4864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EC-05</a:t>
            </a:r>
            <a:endParaRPr lang="en-US" sz="800"/>
          </a:p>
        </p:txBody>
      </p:sp>
      <p:sp>
        <p:nvSpPr>
          <p:cNvPr id="29" name="Text 27"/>
          <p:cNvSpPr txBox="1"/>
          <p:nvPr/>
        </p:nvSpPr>
        <p:spPr>
          <a:xfrm>
            <a:off x="10515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5486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</a:t>
            </a:r>
            <a:endParaRPr lang="en-US" sz="1100"/>
          </a:p>
        </p:txBody>
      </p:sp>
      <p:sp>
        <p:nvSpPr>
          <p:cNvPr id="31" name="Text 29"/>
          <p:cNvSpPr txBox="1"/>
          <p:nvPr/>
        </p:nvSpPr>
        <p:spPr>
          <a:xfrm>
            <a:off x="54864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프로필, 아파트, 활동, 설정 탭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260604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69748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EC-06</a:t>
            </a:r>
            <a:endParaRPr lang="en-US" sz="800"/>
          </a:p>
        </p:txBody>
      </p:sp>
      <p:sp>
        <p:nvSpPr>
          <p:cNvPr id="34" name="Text 32"/>
          <p:cNvSpPr txBox="1"/>
          <p:nvPr/>
        </p:nvSpPr>
        <p:spPr>
          <a:xfrm>
            <a:off x="320040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/>
          </a:p>
        </p:txBody>
      </p:sp>
      <p:sp>
        <p:nvSpPr>
          <p:cNvPr id="35" name="Text 33"/>
          <p:cNvSpPr txBox="1"/>
          <p:nvPr/>
        </p:nvSpPr>
        <p:spPr>
          <a:xfrm>
            <a:off x="269748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100"/>
          </a:p>
        </p:txBody>
      </p:sp>
      <p:sp>
        <p:nvSpPr>
          <p:cNvPr id="36" name="Text 34"/>
          <p:cNvSpPr txBox="1"/>
          <p:nvPr/>
        </p:nvSpPr>
        <p:spPr>
          <a:xfrm>
            <a:off x="269748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통계, 단지 관리, 문서 관리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84632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EC-07</a:t>
            </a:r>
            <a:endParaRPr lang="en-US" sz="800"/>
          </a:p>
        </p:txBody>
      </p:sp>
      <p:sp>
        <p:nvSpPr>
          <p:cNvPr id="39" name="Text 37"/>
          <p:cNvSpPr txBox="1"/>
          <p:nvPr/>
        </p:nvSpPr>
        <p:spPr>
          <a:xfrm>
            <a:off x="534924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400"/>
          </a:p>
        </p:txBody>
      </p:sp>
      <p:sp>
        <p:nvSpPr>
          <p:cNvPr id="40" name="Text 38"/>
          <p:cNvSpPr txBox="1"/>
          <p:nvPr/>
        </p:nvSpPr>
        <p:spPr>
          <a:xfrm>
            <a:off x="484632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관리자</a:t>
            </a:r>
            <a:endParaRPr lang="en-US" sz="1100"/>
          </a:p>
        </p:txBody>
      </p:sp>
      <p:sp>
        <p:nvSpPr>
          <p:cNvPr id="41" name="Text 39"/>
          <p:cNvSpPr txBox="1"/>
          <p:nvPr/>
        </p:nvSpPr>
        <p:spPr>
          <a:xfrm>
            <a:off x="484632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 업로드, 입주민 승인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690372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99516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EC-08</a:t>
            </a:r>
            <a:endParaRPr lang="en-US" sz="800"/>
          </a:p>
        </p:txBody>
      </p:sp>
      <p:sp>
        <p:nvSpPr>
          <p:cNvPr id="44" name="Text 42"/>
          <p:cNvSpPr txBox="1"/>
          <p:nvPr/>
        </p:nvSpPr>
        <p:spPr>
          <a:xfrm>
            <a:off x="749808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69951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안내</a:t>
            </a:r>
            <a:endParaRPr lang="en-US" sz="1100"/>
          </a:p>
        </p:txBody>
      </p:sp>
      <p:sp>
        <p:nvSpPr>
          <p:cNvPr id="46" name="Text 44"/>
          <p:cNvSpPr txBox="1"/>
          <p:nvPr/>
        </p:nvSpPr>
        <p:spPr>
          <a:xfrm>
            <a:off x="699516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기능, 지원 분야, 이용 방법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구조</a:t>
            </a:r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ecobotapt.com · 도메인 구매 후 리눅스 서버 배포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인터넷 (HTTPS)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731520" y="16184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47088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</a:t>
            </a: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:443 · TLS 자동 발급/갱신 · 리버스 프록시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731520" y="22768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127.0.0.1:8000 (평문 HTTP)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731520" y="2505456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FFF8E1"/>
          </a:solidFill>
          <a:ln w="19050">
            <a:solidFill>
              <a:srgbClr val="D489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50545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 workers × 4 threads · timeout 180s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731520" y="29352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31520" y="3163824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163824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WhiteNoise 정적 파일 서빙 · systemd 관리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731520" y="35935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                        ▼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73152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8221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MySQL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246888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8880" y="38221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FAISS</a:t>
            </a:r>
            <a:endParaRPr lang="en-US" sz="1000"/>
          </a:p>
        </p:txBody>
      </p:sp>
      <p:sp>
        <p:nvSpPr>
          <p:cNvPr id="22" name="Text 20"/>
          <p:cNvSpPr txBox="1"/>
          <p:nvPr/>
        </p:nvSpPr>
        <p:spPr>
          <a:xfrm>
            <a:off x="73152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밖으로 열린 포트는 443 하나뿐 · HTTPS는 Caddy에서 종단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결정 3가지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4663440" y="14630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정석과 다르게 간 부분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18288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7316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/>
          </a:p>
        </p:txBody>
      </p:sp>
      <p:sp>
        <p:nvSpPr>
          <p:cNvPr id="28" name="Text 26"/>
          <p:cNvSpPr txBox="1"/>
          <p:nvPr/>
        </p:nvSpPr>
        <p:spPr>
          <a:xfrm>
            <a:off x="5120640" y="1828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파일 → WhiteNoise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4773168" y="214884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Caddy(uid 997)가 /home/app(0750)을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 못해 403 발생 → 권한 개방 대신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Django(WhiteNoise)가 직접 서빙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288036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73168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/>
          </a:p>
        </p:txBody>
      </p:sp>
      <p:sp>
        <p:nvSpPr>
          <p:cNvPr id="33" name="Text 31"/>
          <p:cNvSpPr txBox="1"/>
          <p:nvPr/>
        </p:nvSpPr>
        <p:spPr>
          <a:xfrm>
            <a:off x="5120640" y="2880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 계열 제외</a:t>
            </a:r>
            <a:endParaRPr lang="en-US" sz="1100"/>
          </a:p>
        </p:txBody>
      </p:sp>
      <p:sp>
        <p:nvSpPr>
          <p:cNvPr id="34" name="Text 32"/>
          <p:cNvSpPr txBox="1"/>
          <p:nvPr/>
        </p:nvSpPr>
        <p:spPr>
          <a:xfrm>
            <a:off x="4773168" y="3200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sentence-transformers가 끌어오는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torch만 2~3GB → 지연 임포트로 분리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venv 238MB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393192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73168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/>
          </a:p>
        </p:txBody>
      </p:sp>
      <p:sp>
        <p:nvSpPr>
          <p:cNvPr id="38" name="Text 36"/>
          <p:cNvSpPr txBox="1"/>
          <p:nvPr/>
        </p:nvSpPr>
        <p:spPr>
          <a:xfrm>
            <a:off x="5120640" y="3931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timeout 180초</a:t>
            </a:r>
            <a:endParaRPr lang="en-US" sz="1100"/>
          </a:p>
        </p:txBody>
      </p:sp>
      <p:sp>
        <p:nvSpPr>
          <p:cNvPr id="39" name="Text 37"/>
          <p:cNvSpPr txBox="1"/>
          <p:nvPr/>
        </p:nvSpPr>
        <p:spPr>
          <a:xfrm>
            <a:off x="4773168" y="425196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업로드 시 전체 재임베딩 수행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30초면 워커 사망 + 인덱스 손상</a:t>
            </a:r>
            <a:endParaRPr lang="en-US" sz="900"/>
          </a:p>
          <a:p>
            <a:pPr marL="0" indent="0">
              <a:lnSpc>
                <a:spcPct val="125000"/>
              </a:lnSpc>
              <a:buNone/>
            </a:pPr>
            <a:r>
              <a:rPr lang="en-US" sz="9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쪽도 동일 180초 설정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3973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90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137160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확대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1371600" y="1691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10개 지역에서 전국 지자체로 확대하여 더 많은 사용자에게 서비스 제공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566928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최적화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5669280" y="1691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웹을 넘어 PWA 또는 모바일 앱으로 확장하여 접근성 개선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/>
          </a:p>
        </p:txBody>
      </p:sp>
      <p:sp>
        <p:nvSpPr>
          <p:cNvPr id="19" name="Text 17"/>
          <p:cNvSpPr txBox="1"/>
          <p:nvPr/>
        </p:nvSpPr>
        <p:spPr>
          <a:xfrm>
            <a:off x="137160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고도화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1371600" y="3383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질의(사진으로 분리배출 판단), 대화 맥락 강화, 답변 정확도 향상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E8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/>
          </a:p>
        </p:txBody>
      </p:sp>
      <p:sp>
        <p:nvSpPr>
          <p:cNvPr id="24" name="Text 22"/>
          <p:cNvSpPr txBox="1"/>
          <p:nvPr/>
        </p:nvSpPr>
        <p:spPr>
          <a:xfrm>
            <a:off x="566928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5669280" y="3383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축적된 질문 데이터를 활용하여 지역별 환경 인식 트렌드 분석 및 정책 제안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2900"/>
            <a:ext cx="411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err="1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시연</a:t>
            </a:r>
            <a:r>
              <a:rPr lang="en-US" sz="2700" b="1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2700" b="1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영상</a:t>
            </a:r>
            <a:r>
              <a:rPr lang="en-US" sz="2700" b="1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27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603A06D-93A1-8B11-F568-55D15F3FF607}"/>
              </a:ext>
            </a:extLst>
          </p:cNvPr>
          <p:cNvSpPr/>
          <p:nvPr/>
        </p:nvSpPr>
        <p:spPr>
          <a:xfrm>
            <a:off x="1722955" y="1117009"/>
            <a:ext cx="5692140" cy="32996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5CF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49640-8818-9740-397F-EA024065369C}"/>
              </a:ext>
            </a:extLst>
          </p:cNvPr>
          <p:cNvSpPr txBox="1"/>
          <p:nvPr/>
        </p:nvSpPr>
        <p:spPr>
          <a:xfrm>
            <a:off x="3415630" y="2453835"/>
            <a:ext cx="206683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>
                <a:solidFill>
                  <a:srgbClr val="4B782E"/>
                </a:solidFill>
                <a:ea typeface="Calibri"/>
                <a:cs typeface="Calibri"/>
              </a:rPr>
              <a:t>🎥</a:t>
            </a:r>
            <a:r>
              <a:rPr lang="en-US" altLang="ko-KR" sz="160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에코봇</a:t>
            </a:r>
            <a:r>
              <a:rPr lang="en-US" altLang="ko-KR" sz="1600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시연</a:t>
            </a:r>
            <a:r>
              <a:rPr lang="en-US" altLang="ko-KR" sz="1600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영상</a:t>
            </a:r>
          </a:p>
          <a:p>
            <a:pPr algn="ctr"/>
            <a:endParaRPr lang="ko-KR" altLang="en-US"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362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/>
          </a:p>
        </p:txBody>
      </p:sp>
      <p:sp>
        <p:nvSpPr>
          <p:cNvPr id="3" name="Text 1"/>
          <p:cNvSpPr txBox="1"/>
          <p:nvPr/>
        </p:nvSpPr>
        <p:spPr>
          <a:xfrm>
            <a:off x="0" y="2103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Ecobot — AI 기반 생활환경 실천 안내 서비스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화면 슬라이드 쇼(16:9)</PresentationFormat>
  <Slides>18</Slides>
  <Notes>18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Ecobot - AI 기반 생활환경 실천 안내 서비스</dc:title>
  <dc:subject>PptxGenJS Presentation</dc:subject>
  <dc:creator>SKN32 3Team</dc:creator>
  <cp:revision>7</cp:revision>
  <dcterms:created xsi:type="dcterms:W3CDTF">2026-08-27T00:21:45Z</dcterms:created>
  <dcterms:modified xsi:type="dcterms:W3CDTF">2026-08-27T03:46:42Z</dcterms:modified>
</cp:coreProperties>
</file>